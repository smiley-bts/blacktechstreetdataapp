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4630400" cy="8229600"/>
  <p:notesSz cx="8229600" cy="14630400"/>
  <p:embeddedFontLst>
    <p:embeddedFont>
      <p:font typeface="Comfortaa"/>
      <p:regular r:id="rId17"/>
    </p:embeddedFont>
    <p:embeddedFont>
      <p:font typeface="Comfortaa"/>
      <p:regular r:id="rId18"/>
    </p:embeddedFont>
    <p:embeddedFont>
      <p:font typeface="Raleway Medium"/>
      <p:regular r:id="rId19"/>
    </p:embeddedFont>
    <p:embeddedFont>
      <p:font typeface="Raleway Medium"/>
      <p:regular r:id="rId20"/>
    </p:embeddedFont>
    <p:embeddedFont>
      <p:font typeface="Raleway Medium"/>
      <p:regular r:id="rId21"/>
    </p:embeddedFont>
    <p:embeddedFont>
      <p:font typeface="Raleway Medium"/>
      <p:regular r:id="rId22"/>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font" Target="fonts/font1.fntdata"/><Relationship Id="rId18" Type="http://schemas.openxmlformats.org/officeDocument/2006/relationships/font" Target="fonts/font2.fntdata"/><Relationship Id="rId19" Type="http://schemas.openxmlformats.org/officeDocument/2006/relationships/font" Target="fonts/font3.fntdata"/><Relationship Id="rId20" Type="http://schemas.openxmlformats.org/officeDocument/2006/relationships/font" Target="fonts/font4.fntdata"/><Relationship Id="rId21" Type="http://schemas.openxmlformats.org/officeDocument/2006/relationships/font" Target="fonts/font5.fntdata"/><Relationship Id="rId22" Type="http://schemas.openxmlformats.org/officeDocument/2006/relationships/font" Target="fonts/font6.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0-1.png"/><Relationship Id="rId3"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1-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B1B1E"/>
          </a:solidFill>
          <a:ln/>
        </p:spPr>
      </p:sp>
      <p:sp>
        <p:nvSpPr>
          <p:cNvPr id="3" name="Shape 1"/>
          <p:cNvSpPr/>
          <p:nvPr/>
        </p:nvSpPr>
        <p:spPr>
          <a:xfrm>
            <a:off x="0" y="0"/>
            <a:ext cx="14630400" cy="8229600"/>
          </a:xfrm>
          <a:prstGeom prst="rect">
            <a:avLst/>
          </a:prstGeom>
          <a:solidFill>
            <a:srgbClr val="27272B"/>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B1B1E"/>
          </a:solidFill>
          <a:ln/>
        </p:spPr>
      </p:sp>
      <p:sp>
        <p:nvSpPr>
          <p:cNvPr id="3" name="Shape 1"/>
          <p:cNvSpPr/>
          <p:nvPr/>
        </p:nvSpPr>
        <p:spPr>
          <a:xfrm>
            <a:off x="0" y="0"/>
            <a:ext cx="14630400" cy="8229600"/>
          </a:xfrm>
          <a:prstGeom prst="rect">
            <a:avLst/>
          </a:prstGeom>
          <a:solidFill>
            <a:srgbClr val="27272B"/>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B1B1E"/>
          </a:solidFill>
          <a:ln/>
        </p:spPr>
      </p:sp>
      <p:sp>
        <p:nvSpPr>
          <p:cNvPr id="3" name="Shape 1"/>
          <p:cNvSpPr/>
          <p:nvPr/>
        </p:nvSpPr>
        <p:spPr>
          <a:xfrm>
            <a:off x="0" y="0"/>
            <a:ext cx="14630400" cy="8229600"/>
          </a:xfrm>
          <a:prstGeom prst="rect">
            <a:avLst/>
          </a:prstGeom>
          <a:solidFill>
            <a:srgbClr val="27272B"/>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B1B1E"/>
          </a:solidFill>
          <a:ln/>
        </p:spPr>
      </p:sp>
      <p:sp>
        <p:nvSpPr>
          <p:cNvPr id="3" name="Shape 1"/>
          <p:cNvSpPr/>
          <p:nvPr/>
        </p:nvSpPr>
        <p:spPr>
          <a:xfrm>
            <a:off x="0" y="0"/>
            <a:ext cx="14630400" cy="8229600"/>
          </a:xfrm>
          <a:prstGeom prst="rect">
            <a:avLst/>
          </a:prstGeom>
          <a:solidFill>
            <a:srgbClr val="27272B"/>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B1B1E"/>
          </a:solidFill>
          <a:ln/>
        </p:spPr>
      </p:sp>
      <p:sp>
        <p:nvSpPr>
          <p:cNvPr id="3" name="Shape 1"/>
          <p:cNvSpPr/>
          <p:nvPr/>
        </p:nvSpPr>
        <p:spPr>
          <a:xfrm>
            <a:off x="0" y="0"/>
            <a:ext cx="14630400" cy="8229600"/>
          </a:xfrm>
          <a:prstGeom prst="rect">
            <a:avLst/>
          </a:prstGeom>
          <a:solidFill>
            <a:srgbClr val="27272B"/>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B1B1E"/>
          </a:solidFill>
          <a:ln/>
        </p:spPr>
      </p:sp>
      <p:sp>
        <p:nvSpPr>
          <p:cNvPr id="3" name="Shape 1"/>
          <p:cNvSpPr/>
          <p:nvPr/>
        </p:nvSpPr>
        <p:spPr>
          <a:xfrm>
            <a:off x="0" y="0"/>
            <a:ext cx="14630400" cy="8229600"/>
          </a:xfrm>
          <a:prstGeom prst="rect">
            <a:avLst/>
          </a:prstGeom>
          <a:solidFill>
            <a:srgbClr val="27272B"/>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B1B1E"/>
          </a:solidFill>
          <a:ln/>
        </p:spPr>
      </p:sp>
      <p:sp>
        <p:nvSpPr>
          <p:cNvPr id="3" name="Shape 1"/>
          <p:cNvSpPr/>
          <p:nvPr/>
        </p:nvSpPr>
        <p:spPr>
          <a:xfrm>
            <a:off x="0" y="0"/>
            <a:ext cx="14630400" cy="8229600"/>
          </a:xfrm>
          <a:prstGeom prst="rect">
            <a:avLst/>
          </a:prstGeom>
          <a:solidFill>
            <a:srgbClr val="27272B"/>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B1B1E"/>
          </a:solidFill>
          <a:ln/>
        </p:spPr>
      </p:sp>
      <p:sp>
        <p:nvSpPr>
          <p:cNvPr id="3" name="Shape 1"/>
          <p:cNvSpPr/>
          <p:nvPr/>
        </p:nvSpPr>
        <p:spPr>
          <a:xfrm>
            <a:off x="0" y="0"/>
            <a:ext cx="14630400" cy="8229600"/>
          </a:xfrm>
          <a:prstGeom prst="rect">
            <a:avLst/>
          </a:prstGeom>
          <a:solidFill>
            <a:srgbClr val="27272B"/>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B1B1E"/>
          </a:solidFill>
          <a:ln/>
        </p:spPr>
      </p:sp>
      <p:sp>
        <p:nvSpPr>
          <p:cNvPr id="3" name="Shape 1"/>
          <p:cNvSpPr/>
          <p:nvPr/>
        </p:nvSpPr>
        <p:spPr>
          <a:xfrm>
            <a:off x="0" y="0"/>
            <a:ext cx="14630400" cy="8229600"/>
          </a:xfrm>
          <a:prstGeom prst="rect">
            <a:avLst/>
          </a:prstGeom>
          <a:solidFill>
            <a:srgbClr val="27272B"/>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B1B1E"/>
          </a:solidFill>
          <a:ln/>
        </p:spPr>
      </p:sp>
      <p:sp>
        <p:nvSpPr>
          <p:cNvPr id="3" name="Shape 1"/>
          <p:cNvSpPr/>
          <p:nvPr/>
        </p:nvSpPr>
        <p:spPr>
          <a:xfrm>
            <a:off x="0" y="0"/>
            <a:ext cx="14630400" cy="8229600"/>
          </a:xfrm>
          <a:prstGeom prst="rect">
            <a:avLst/>
          </a:prstGeom>
          <a:solidFill>
            <a:srgbClr val="27272B"/>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6.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7.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8.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9.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0.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864037" y="2743200"/>
            <a:ext cx="7415927" cy="2743200"/>
          </a:xfrm>
          <a:prstGeom prst="rect">
            <a:avLst/>
          </a:prstGeom>
          <a:noFill/>
          <a:ln/>
        </p:spPr>
        <p:txBody>
          <a:bodyPr wrap="square" lIns="0" tIns="0" rIns="0" bIns="0" rtlCol="0" anchor="t"/>
          <a:lstStyle/>
          <a:p>
            <a:pPr algn="l" indent="0" marL="0">
              <a:lnSpc>
                <a:spcPts val="5400"/>
              </a:lnSpc>
              <a:buNone/>
            </a:pPr>
            <a:r>
              <a:rPr lang="en-US" sz="4300" b="1" dirty="0">
                <a:solidFill>
                  <a:srgbClr val="FFE14D"/>
                </a:solidFill>
                <a:latin typeface="Comfortaa Bold" pitchFamily="34" charset="0"/>
                <a:ea typeface="Comfortaa Bold" pitchFamily="34" charset="-122"/>
                <a:cs typeface="Comfortaa Bold" pitchFamily="34" charset="-120"/>
              </a:rPr>
              <a:t>Rise-up Learning Hub: Empowering Tulsa's Workforce, Transforming Lives</a:t>
            </a:r>
            <a:endParaRPr lang="en-US" sz="4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864037" y="1100018"/>
            <a:ext cx="7415927" cy="1371600"/>
          </a:xfrm>
          <a:prstGeom prst="rect">
            <a:avLst/>
          </a:prstGeom>
          <a:noFill/>
          <a:ln/>
        </p:spPr>
        <p:txBody>
          <a:bodyPr wrap="square" lIns="0" tIns="0" rIns="0" bIns="0" rtlCol="0" anchor="t"/>
          <a:lstStyle/>
          <a:p>
            <a:pPr algn="l" indent="0" marL="0">
              <a:lnSpc>
                <a:spcPts val="5400"/>
              </a:lnSpc>
              <a:buNone/>
            </a:pPr>
            <a:r>
              <a:rPr lang="en-US" sz="4300" b="1" dirty="0">
                <a:solidFill>
                  <a:srgbClr val="FFE14D"/>
                </a:solidFill>
                <a:latin typeface="Comfortaa Bold" pitchFamily="34" charset="0"/>
                <a:ea typeface="Comfortaa Bold" pitchFamily="34" charset="-122"/>
                <a:cs typeface="Comfortaa Bold" pitchFamily="34" charset="-120"/>
              </a:rPr>
              <a:t>Unlocking Potential, One Learner at a Time</a:t>
            </a:r>
            <a:endParaRPr lang="en-US" sz="4300" dirty="0"/>
          </a:p>
        </p:txBody>
      </p:sp>
      <p:sp>
        <p:nvSpPr>
          <p:cNvPr id="4" name="Text 1"/>
          <p:cNvSpPr/>
          <p:nvPr/>
        </p:nvSpPr>
        <p:spPr>
          <a:xfrm>
            <a:off x="864037" y="3088719"/>
            <a:ext cx="3291840" cy="411480"/>
          </a:xfrm>
          <a:prstGeom prst="rect">
            <a:avLst/>
          </a:prstGeom>
          <a:noFill/>
          <a:ln/>
        </p:spPr>
        <p:txBody>
          <a:bodyPr wrap="none" lIns="0" tIns="0" rIns="0" bIns="0" rtlCol="0" anchor="t"/>
          <a:lstStyle/>
          <a:p>
            <a:pPr algn="l" indent="0" marL="0">
              <a:lnSpc>
                <a:spcPts val="3200"/>
              </a:lnSpc>
              <a:buNone/>
            </a:pPr>
            <a:r>
              <a:rPr lang="en-US" sz="2550" b="1" dirty="0">
                <a:solidFill>
                  <a:srgbClr val="FFE14D"/>
                </a:solidFill>
                <a:latin typeface="Comfortaa Bold" pitchFamily="34" charset="0"/>
                <a:ea typeface="Comfortaa Bold" pitchFamily="34" charset="-122"/>
                <a:cs typeface="Comfortaa Bold" pitchFamily="34" charset="-120"/>
              </a:rPr>
              <a:t>Our Mission</a:t>
            </a:r>
            <a:endParaRPr lang="en-US" sz="2550" dirty="0"/>
          </a:p>
        </p:txBody>
      </p:sp>
      <p:sp>
        <p:nvSpPr>
          <p:cNvPr id="5" name="Text 2"/>
          <p:cNvSpPr/>
          <p:nvPr/>
        </p:nvSpPr>
        <p:spPr>
          <a:xfrm>
            <a:off x="864037" y="3747016"/>
            <a:ext cx="3406854" cy="3160395"/>
          </a:xfrm>
          <a:prstGeom prst="rect">
            <a:avLst/>
          </a:prstGeom>
          <a:noFill/>
          <a:ln/>
        </p:spPr>
        <p:txBody>
          <a:bodyPr wrap="square" lIns="0" tIns="0" rIns="0" bIns="0" rtlCol="0" anchor="t"/>
          <a:lstStyle/>
          <a:p>
            <a:pPr algn="l" indent="0" marL="0">
              <a:lnSpc>
                <a:spcPts val="3100"/>
              </a:lnSpc>
              <a:buNone/>
            </a:pPr>
            <a:r>
              <a:rPr lang="en-US" sz="1900" dirty="0">
                <a:solidFill>
                  <a:srgbClr val="D7D4CC"/>
                </a:solidFill>
                <a:latin typeface="Raleway Medium" pitchFamily="34" charset="0"/>
                <a:ea typeface="Raleway Medium" pitchFamily="34" charset="-122"/>
                <a:cs typeface="Raleway Medium" pitchFamily="34" charset="-120"/>
              </a:rPr>
              <a:t>We provide accessible, flexible, and practical learning opportunities for adults in Tulsa and beyond. Every program is designed to meet you where you are and take you where you want to go.</a:t>
            </a:r>
            <a:endParaRPr lang="en-US" sz="1900" dirty="0"/>
          </a:p>
        </p:txBody>
      </p:sp>
      <p:sp>
        <p:nvSpPr>
          <p:cNvPr id="6" name="Text 3"/>
          <p:cNvSpPr/>
          <p:nvPr/>
        </p:nvSpPr>
        <p:spPr>
          <a:xfrm>
            <a:off x="4880729" y="3088719"/>
            <a:ext cx="3291840" cy="411480"/>
          </a:xfrm>
          <a:prstGeom prst="rect">
            <a:avLst/>
          </a:prstGeom>
          <a:noFill/>
          <a:ln/>
        </p:spPr>
        <p:txBody>
          <a:bodyPr wrap="none" lIns="0" tIns="0" rIns="0" bIns="0" rtlCol="0" anchor="t"/>
          <a:lstStyle/>
          <a:p>
            <a:pPr algn="l" indent="0" marL="0">
              <a:lnSpc>
                <a:spcPts val="3200"/>
              </a:lnSpc>
              <a:buNone/>
            </a:pPr>
            <a:r>
              <a:rPr lang="en-US" sz="2550" b="1" dirty="0">
                <a:solidFill>
                  <a:srgbClr val="FFE14D"/>
                </a:solidFill>
                <a:latin typeface="Comfortaa Bold" pitchFamily="34" charset="0"/>
                <a:ea typeface="Comfortaa Bold" pitchFamily="34" charset="-122"/>
                <a:cs typeface="Comfortaa Bold" pitchFamily="34" charset="-120"/>
              </a:rPr>
              <a:t>Our Impact</a:t>
            </a:r>
            <a:endParaRPr lang="en-US" sz="2550" dirty="0"/>
          </a:p>
        </p:txBody>
      </p:sp>
      <p:sp>
        <p:nvSpPr>
          <p:cNvPr id="7" name="Text 4"/>
          <p:cNvSpPr/>
          <p:nvPr/>
        </p:nvSpPr>
        <p:spPr>
          <a:xfrm>
            <a:off x="4880729" y="3747016"/>
            <a:ext cx="3406854" cy="3160395"/>
          </a:xfrm>
          <a:prstGeom prst="rect">
            <a:avLst/>
          </a:prstGeom>
          <a:noFill/>
          <a:ln/>
        </p:spPr>
        <p:txBody>
          <a:bodyPr wrap="square" lIns="0" tIns="0" rIns="0" bIns="0" rtlCol="0" anchor="t"/>
          <a:lstStyle/>
          <a:p>
            <a:pPr algn="l" indent="0" marL="0">
              <a:lnSpc>
                <a:spcPts val="3100"/>
              </a:lnSpc>
              <a:buNone/>
            </a:pPr>
            <a:r>
              <a:rPr lang="en-US" sz="1900" dirty="0">
                <a:solidFill>
                  <a:srgbClr val="D7D4CC"/>
                </a:solidFill>
                <a:latin typeface="Raleway Medium" pitchFamily="34" charset="0"/>
                <a:ea typeface="Raleway Medium" pitchFamily="34" charset="-122"/>
                <a:cs typeface="Raleway Medium" pitchFamily="34" charset="-120"/>
              </a:rPr>
              <a:t>Career advancement, lifelong growth, and building a stronger community workforce. We don't just teach skills – we transform lives and strengthen our entire region's economic future.</a:t>
            </a:r>
            <a:endParaRPr lang="en-US" sz="1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3086100"/>
          </a:xfrm>
          <a:prstGeom prst="rect">
            <a:avLst/>
          </a:prstGeom>
        </p:spPr>
      </p:pic>
      <p:sp>
        <p:nvSpPr>
          <p:cNvPr id="3" name="Text 0"/>
          <p:cNvSpPr/>
          <p:nvPr/>
        </p:nvSpPr>
        <p:spPr>
          <a:xfrm>
            <a:off x="864037" y="3903583"/>
            <a:ext cx="12902327" cy="2743200"/>
          </a:xfrm>
          <a:prstGeom prst="rect">
            <a:avLst/>
          </a:prstGeom>
          <a:noFill/>
          <a:ln/>
        </p:spPr>
        <p:txBody>
          <a:bodyPr wrap="square" lIns="0" tIns="0" rIns="0" bIns="0" rtlCol="0" anchor="t"/>
          <a:lstStyle/>
          <a:p>
            <a:pPr algn="l" indent="0" marL="0">
              <a:lnSpc>
                <a:spcPts val="10800"/>
              </a:lnSpc>
              <a:buNone/>
            </a:pPr>
            <a:r>
              <a:rPr lang="en-US" sz="8600" b="1" dirty="0">
                <a:solidFill>
                  <a:srgbClr val="FFE14D"/>
                </a:solidFill>
                <a:latin typeface="Comfortaa Bold" pitchFamily="34" charset="0"/>
                <a:ea typeface="Comfortaa Bold" pitchFamily="34" charset="-122"/>
                <a:cs typeface="Comfortaa Bold" pitchFamily="34" charset="-120"/>
              </a:rPr>
              <a:t>Learning Without Limits</a:t>
            </a:r>
            <a:endParaRPr lang="en-US" sz="8600" dirty="0"/>
          </a:p>
        </p:txBody>
      </p:sp>
      <p:sp>
        <p:nvSpPr>
          <p:cNvPr id="4" name="Text 1"/>
          <p:cNvSpPr/>
          <p:nvPr/>
        </p:nvSpPr>
        <p:spPr>
          <a:xfrm>
            <a:off x="864037" y="7017068"/>
            <a:ext cx="12902327" cy="395049"/>
          </a:xfrm>
          <a:prstGeom prst="rect">
            <a:avLst/>
          </a:prstGeom>
          <a:noFill/>
          <a:ln/>
        </p:spPr>
        <p:txBody>
          <a:bodyPr wrap="none" lIns="0" tIns="0" rIns="0" bIns="0" rtlCol="0" anchor="t"/>
          <a:lstStyle/>
          <a:p>
            <a:pPr algn="l" indent="0" marL="0">
              <a:lnSpc>
                <a:spcPts val="3100"/>
              </a:lnSpc>
              <a:buNone/>
            </a:pPr>
            <a:r>
              <a:rPr lang="en-US" sz="1900" dirty="0">
                <a:solidFill>
                  <a:srgbClr val="D7D4CC"/>
                </a:solidFill>
                <a:latin typeface="Raleway Medium" pitchFamily="34" charset="0"/>
                <a:ea typeface="Raleway Medium" pitchFamily="34" charset="-122"/>
                <a:cs typeface="Raleway Medium" pitchFamily="34" charset="-120"/>
              </a:rPr>
              <a:t>Every barrier removed. Every dream within reach. Every learner empowered to rise up.</a:t>
            </a:r>
            <a:endParaRPr lang="en-US" sz="1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864037" y="2045018"/>
            <a:ext cx="8981837" cy="685800"/>
          </a:xfrm>
          <a:prstGeom prst="rect">
            <a:avLst/>
          </a:prstGeom>
          <a:noFill/>
          <a:ln/>
        </p:spPr>
        <p:txBody>
          <a:bodyPr wrap="none" lIns="0" tIns="0" rIns="0" bIns="0" rtlCol="0" anchor="t"/>
          <a:lstStyle/>
          <a:p>
            <a:pPr algn="l" indent="0" marL="0">
              <a:lnSpc>
                <a:spcPts val="5400"/>
              </a:lnSpc>
              <a:buNone/>
            </a:pPr>
            <a:r>
              <a:rPr lang="en-US" sz="4300" b="1" dirty="0">
                <a:solidFill>
                  <a:srgbClr val="FFE14D"/>
                </a:solidFill>
                <a:latin typeface="Comfortaa Bold" pitchFamily="34" charset="0"/>
                <a:ea typeface="Comfortaa Bold" pitchFamily="34" charset="-122"/>
                <a:cs typeface="Comfortaa Bold" pitchFamily="34" charset="-120"/>
              </a:rPr>
              <a:t>Breaking Barriers to Education</a:t>
            </a:r>
            <a:endParaRPr lang="en-US" sz="4300" dirty="0"/>
          </a:p>
        </p:txBody>
      </p:sp>
      <p:sp>
        <p:nvSpPr>
          <p:cNvPr id="3" name="Shape 1"/>
          <p:cNvSpPr/>
          <p:nvPr/>
        </p:nvSpPr>
        <p:spPr>
          <a:xfrm>
            <a:off x="864037" y="3224570"/>
            <a:ext cx="4136231" cy="2959894"/>
          </a:xfrm>
          <a:prstGeom prst="roundRect">
            <a:avLst>
              <a:gd name="adj" fmla="val 12512"/>
            </a:avLst>
          </a:prstGeom>
          <a:solidFill>
            <a:srgbClr val="46464A"/>
          </a:solidFill>
          <a:ln/>
        </p:spPr>
      </p:sp>
      <p:sp>
        <p:nvSpPr>
          <p:cNvPr id="4" name="Text 2"/>
          <p:cNvSpPr/>
          <p:nvPr/>
        </p:nvSpPr>
        <p:spPr>
          <a:xfrm>
            <a:off x="1110853" y="3471386"/>
            <a:ext cx="2930366" cy="342900"/>
          </a:xfrm>
          <a:prstGeom prst="rect">
            <a:avLst/>
          </a:prstGeom>
          <a:noFill/>
          <a:ln/>
        </p:spPr>
        <p:txBody>
          <a:bodyPr wrap="none" lIns="0" tIns="0" rIns="0" bIns="0" rtlCol="0" anchor="t"/>
          <a:lstStyle/>
          <a:p>
            <a:pPr algn="l" indent="0" marL="0">
              <a:lnSpc>
                <a:spcPts val="2700"/>
              </a:lnSpc>
              <a:buNone/>
            </a:pPr>
            <a:r>
              <a:rPr lang="en-US" sz="2150" b="1" dirty="0">
                <a:solidFill>
                  <a:srgbClr val="D7D4CC"/>
                </a:solidFill>
                <a:latin typeface="Comfortaa Bold" pitchFamily="34" charset="0"/>
                <a:ea typeface="Comfortaa Bold" pitchFamily="34" charset="-122"/>
                <a:cs typeface="Comfortaa Bold" pitchFamily="34" charset="-120"/>
              </a:rPr>
              <a:t>Innovative Programs</a:t>
            </a:r>
            <a:endParaRPr lang="en-US" sz="2150" dirty="0"/>
          </a:p>
        </p:txBody>
      </p:sp>
      <p:sp>
        <p:nvSpPr>
          <p:cNvPr id="5" name="Text 3"/>
          <p:cNvSpPr/>
          <p:nvPr/>
        </p:nvSpPr>
        <p:spPr>
          <a:xfrm>
            <a:off x="1110853" y="3962400"/>
            <a:ext cx="3642598" cy="1975247"/>
          </a:xfrm>
          <a:prstGeom prst="rect">
            <a:avLst/>
          </a:prstGeom>
          <a:noFill/>
          <a:ln/>
        </p:spPr>
        <p:txBody>
          <a:bodyPr wrap="square" lIns="0" tIns="0" rIns="0" bIns="0" rtlCol="0" anchor="t"/>
          <a:lstStyle/>
          <a:p>
            <a:pPr algn="l" indent="0" marL="0">
              <a:lnSpc>
                <a:spcPts val="3100"/>
              </a:lnSpc>
              <a:buNone/>
            </a:pPr>
            <a:r>
              <a:rPr lang="en-US" sz="1900" dirty="0">
                <a:solidFill>
                  <a:srgbClr val="D7D4CC"/>
                </a:solidFill>
                <a:latin typeface="Raleway Medium" pitchFamily="34" charset="0"/>
                <a:ea typeface="Raleway Medium" pitchFamily="34" charset="-122"/>
                <a:cs typeface="Raleway Medium" pitchFamily="34" charset="-120"/>
              </a:rPr>
              <a:t>Designed specifically for busy adults balancing work, family, and education. Evening, weekend, and online options fit your schedule.</a:t>
            </a:r>
            <a:endParaRPr lang="en-US" sz="1900" dirty="0"/>
          </a:p>
        </p:txBody>
      </p:sp>
      <p:sp>
        <p:nvSpPr>
          <p:cNvPr id="6" name="Shape 4"/>
          <p:cNvSpPr/>
          <p:nvPr/>
        </p:nvSpPr>
        <p:spPr>
          <a:xfrm>
            <a:off x="5247084" y="3224570"/>
            <a:ext cx="4136231" cy="2959894"/>
          </a:xfrm>
          <a:prstGeom prst="roundRect">
            <a:avLst>
              <a:gd name="adj" fmla="val 12512"/>
            </a:avLst>
          </a:prstGeom>
          <a:solidFill>
            <a:srgbClr val="46464A"/>
          </a:solidFill>
          <a:ln/>
        </p:spPr>
      </p:sp>
      <p:sp>
        <p:nvSpPr>
          <p:cNvPr id="7" name="Text 5"/>
          <p:cNvSpPr/>
          <p:nvPr/>
        </p:nvSpPr>
        <p:spPr>
          <a:xfrm>
            <a:off x="5493901" y="3471386"/>
            <a:ext cx="3175278" cy="342900"/>
          </a:xfrm>
          <a:prstGeom prst="rect">
            <a:avLst/>
          </a:prstGeom>
          <a:noFill/>
          <a:ln/>
        </p:spPr>
        <p:txBody>
          <a:bodyPr wrap="none" lIns="0" tIns="0" rIns="0" bIns="0" rtlCol="0" anchor="t"/>
          <a:lstStyle/>
          <a:p>
            <a:pPr algn="l" indent="0" marL="0">
              <a:lnSpc>
                <a:spcPts val="2700"/>
              </a:lnSpc>
              <a:buNone/>
            </a:pPr>
            <a:r>
              <a:rPr lang="en-US" sz="2150" b="1" dirty="0">
                <a:solidFill>
                  <a:srgbClr val="D7D4CC"/>
                </a:solidFill>
                <a:latin typeface="Comfortaa Bold" pitchFamily="34" charset="0"/>
                <a:ea typeface="Comfortaa Bold" pitchFamily="34" charset="-122"/>
                <a:cs typeface="Comfortaa Bold" pitchFamily="34" charset="-120"/>
              </a:rPr>
              <a:t>Wrap-Around Support</a:t>
            </a:r>
            <a:endParaRPr lang="en-US" sz="2150" dirty="0"/>
          </a:p>
        </p:txBody>
      </p:sp>
      <p:sp>
        <p:nvSpPr>
          <p:cNvPr id="8" name="Text 6"/>
          <p:cNvSpPr/>
          <p:nvPr/>
        </p:nvSpPr>
        <p:spPr>
          <a:xfrm>
            <a:off x="5493901" y="3962400"/>
            <a:ext cx="3642598" cy="1975247"/>
          </a:xfrm>
          <a:prstGeom prst="rect">
            <a:avLst/>
          </a:prstGeom>
          <a:noFill/>
          <a:ln/>
        </p:spPr>
        <p:txBody>
          <a:bodyPr wrap="square" lIns="0" tIns="0" rIns="0" bIns="0" rtlCol="0" anchor="t"/>
          <a:lstStyle/>
          <a:p>
            <a:pPr algn="l" indent="0" marL="0">
              <a:lnSpc>
                <a:spcPts val="3100"/>
              </a:lnSpc>
              <a:buNone/>
            </a:pPr>
            <a:r>
              <a:rPr lang="en-US" sz="1900" dirty="0">
                <a:solidFill>
                  <a:srgbClr val="D7D4CC"/>
                </a:solidFill>
                <a:latin typeface="Raleway Medium" pitchFamily="34" charset="0"/>
                <a:ea typeface="Raleway Medium" pitchFamily="34" charset="-122"/>
                <a:cs typeface="Raleway Medium" pitchFamily="34" charset="-120"/>
              </a:rPr>
              <a:t>Comprehensive assistance including tutoring, coaching, childcare support, and technology access to remove every obstacle.</a:t>
            </a:r>
            <a:endParaRPr lang="en-US" sz="1900" dirty="0"/>
          </a:p>
        </p:txBody>
      </p:sp>
      <p:sp>
        <p:nvSpPr>
          <p:cNvPr id="9" name="Shape 7"/>
          <p:cNvSpPr/>
          <p:nvPr/>
        </p:nvSpPr>
        <p:spPr>
          <a:xfrm>
            <a:off x="9630132" y="3224570"/>
            <a:ext cx="4136231" cy="2959894"/>
          </a:xfrm>
          <a:prstGeom prst="roundRect">
            <a:avLst>
              <a:gd name="adj" fmla="val 12512"/>
            </a:avLst>
          </a:prstGeom>
          <a:solidFill>
            <a:srgbClr val="46464A"/>
          </a:solidFill>
          <a:ln/>
        </p:spPr>
      </p:sp>
      <p:sp>
        <p:nvSpPr>
          <p:cNvPr id="10" name="Text 8"/>
          <p:cNvSpPr/>
          <p:nvPr/>
        </p:nvSpPr>
        <p:spPr>
          <a:xfrm>
            <a:off x="9876949" y="3471386"/>
            <a:ext cx="3265289" cy="342900"/>
          </a:xfrm>
          <a:prstGeom prst="rect">
            <a:avLst/>
          </a:prstGeom>
          <a:noFill/>
          <a:ln/>
        </p:spPr>
        <p:txBody>
          <a:bodyPr wrap="none" lIns="0" tIns="0" rIns="0" bIns="0" rtlCol="0" anchor="t"/>
          <a:lstStyle/>
          <a:p>
            <a:pPr algn="l" indent="0" marL="0">
              <a:lnSpc>
                <a:spcPts val="2700"/>
              </a:lnSpc>
              <a:buNone/>
            </a:pPr>
            <a:r>
              <a:rPr lang="en-US" sz="2150" b="1" dirty="0">
                <a:solidFill>
                  <a:srgbClr val="D7D4CC"/>
                </a:solidFill>
                <a:latin typeface="Comfortaa Bold" pitchFamily="34" charset="0"/>
                <a:ea typeface="Comfortaa Bold" pitchFamily="34" charset="-122"/>
                <a:cs typeface="Comfortaa Bold" pitchFamily="34" charset="-120"/>
              </a:rPr>
              <a:t>Employer Partnerships</a:t>
            </a:r>
            <a:endParaRPr lang="en-US" sz="2150" dirty="0"/>
          </a:p>
        </p:txBody>
      </p:sp>
      <p:sp>
        <p:nvSpPr>
          <p:cNvPr id="11" name="Text 9"/>
          <p:cNvSpPr/>
          <p:nvPr/>
        </p:nvSpPr>
        <p:spPr>
          <a:xfrm>
            <a:off x="9876949" y="3962400"/>
            <a:ext cx="3642598" cy="1975247"/>
          </a:xfrm>
          <a:prstGeom prst="rect">
            <a:avLst/>
          </a:prstGeom>
          <a:noFill/>
          <a:ln/>
        </p:spPr>
        <p:txBody>
          <a:bodyPr wrap="square" lIns="0" tIns="0" rIns="0" bIns="0" rtlCol="0" anchor="t"/>
          <a:lstStyle/>
          <a:p>
            <a:pPr algn="l" indent="0" marL="0">
              <a:lnSpc>
                <a:spcPts val="3100"/>
              </a:lnSpc>
              <a:buNone/>
            </a:pPr>
            <a:r>
              <a:rPr lang="en-US" sz="1900" dirty="0">
                <a:solidFill>
                  <a:srgbClr val="D7D4CC"/>
                </a:solidFill>
                <a:latin typeface="Raleway Medium" pitchFamily="34" charset="0"/>
                <a:ea typeface="Raleway Medium" pitchFamily="34" charset="-122"/>
                <a:cs typeface="Raleway Medium" pitchFamily="34" charset="-120"/>
              </a:rPr>
              <a:t>Strong connections with local businesses ensure relevant skills training and direct pathways to meaningful employment.</a:t>
            </a:r>
            <a:endParaRPr lang="en-US" sz="1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00896" y="393502"/>
            <a:ext cx="7138273" cy="397669"/>
          </a:xfrm>
          <a:prstGeom prst="rect">
            <a:avLst/>
          </a:prstGeom>
          <a:noFill/>
          <a:ln/>
        </p:spPr>
        <p:txBody>
          <a:bodyPr wrap="none" lIns="0" tIns="0" rIns="0" bIns="0" rtlCol="0" anchor="t"/>
          <a:lstStyle/>
          <a:p>
            <a:pPr algn="l" indent="0" marL="0">
              <a:lnSpc>
                <a:spcPts val="3100"/>
              </a:lnSpc>
              <a:buNone/>
            </a:pPr>
            <a:r>
              <a:rPr lang="en-US" sz="2500" b="1" dirty="0">
                <a:solidFill>
                  <a:srgbClr val="FFE14D"/>
                </a:solidFill>
                <a:latin typeface="Comfortaa Bold" pitchFamily="34" charset="0"/>
                <a:ea typeface="Comfortaa Bold" pitchFamily="34" charset="-122"/>
                <a:cs typeface="Comfortaa Bold" pitchFamily="34" charset="-120"/>
              </a:rPr>
              <a:t>Tulsa's Workforce Needs Are Changing Fast</a:t>
            </a:r>
            <a:endParaRPr lang="en-US" sz="2500" dirty="0"/>
          </a:p>
        </p:txBody>
      </p:sp>
      <p:pic>
        <p:nvPicPr>
          <p:cNvPr id="3" name="Image 0" descr="preencoded.png">    </p:cNvPr>
          <p:cNvPicPr>
            <a:picLocks noChangeAspect="1"/>
          </p:cNvPicPr>
          <p:nvPr/>
        </p:nvPicPr>
        <p:blipFill>
          <a:blip r:embed="rId1"/>
          <a:stretch>
            <a:fillRect/>
          </a:stretch>
        </p:blipFill>
        <p:spPr>
          <a:xfrm>
            <a:off x="500896" y="1077397"/>
            <a:ext cx="13628608" cy="7458313"/>
          </a:xfrm>
          <a:prstGeom prst="rect">
            <a:avLst/>
          </a:prstGeom>
        </p:spPr>
      </p:pic>
      <p:sp>
        <p:nvSpPr>
          <p:cNvPr id="4" name="Shape 1"/>
          <p:cNvSpPr/>
          <p:nvPr/>
        </p:nvSpPr>
        <p:spPr>
          <a:xfrm>
            <a:off x="3024068" y="8566190"/>
            <a:ext cx="143113" cy="143113"/>
          </a:xfrm>
          <a:prstGeom prst="roundRect">
            <a:avLst>
              <a:gd name="adj" fmla="val 12779"/>
            </a:avLst>
          </a:prstGeom>
          <a:solidFill>
            <a:srgbClr val="4D4000"/>
          </a:solidFill>
          <a:ln/>
        </p:spPr>
      </p:sp>
      <p:sp>
        <p:nvSpPr>
          <p:cNvPr id="5" name="Text 2"/>
          <p:cNvSpPr/>
          <p:nvPr/>
        </p:nvSpPr>
        <p:spPr>
          <a:xfrm>
            <a:off x="3228142" y="8566190"/>
            <a:ext cx="1714024" cy="143113"/>
          </a:xfrm>
          <a:prstGeom prst="rect">
            <a:avLst/>
          </a:prstGeom>
          <a:noFill/>
          <a:ln/>
        </p:spPr>
        <p:txBody>
          <a:bodyPr wrap="none" lIns="0" tIns="0" rIns="0" bIns="0" rtlCol="0" anchor="t"/>
          <a:lstStyle/>
          <a:p>
            <a:pPr algn="l" indent="0" marL="0">
              <a:lnSpc>
                <a:spcPts val="1100"/>
              </a:lnSpc>
              <a:buNone/>
            </a:pPr>
            <a:r>
              <a:rPr lang="en-US" sz="1100" dirty="0">
                <a:solidFill>
                  <a:srgbClr val="D7D4CC"/>
                </a:solidFill>
                <a:latin typeface="Raleway Medium" pitchFamily="34" charset="0"/>
                <a:ea typeface="Raleway Medium" pitchFamily="34" charset="-122"/>
                <a:cs typeface="Raleway Medium" pitchFamily="34" charset="-120"/>
              </a:rPr>
              <a:t>Post-Secondary Required</a:t>
            </a:r>
            <a:endParaRPr lang="en-US" sz="1100" dirty="0"/>
          </a:p>
        </p:txBody>
      </p:sp>
      <p:sp>
        <p:nvSpPr>
          <p:cNvPr id="6" name="Shape 3"/>
          <p:cNvSpPr/>
          <p:nvPr/>
        </p:nvSpPr>
        <p:spPr>
          <a:xfrm>
            <a:off x="6474143" y="8566190"/>
            <a:ext cx="143113" cy="143113"/>
          </a:xfrm>
          <a:prstGeom prst="roundRect">
            <a:avLst>
              <a:gd name="adj" fmla="val 12779"/>
            </a:avLst>
          </a:prstGeom>
          <a:solidFill>
            <a:srgbClr val="D5B100"/>
          </a:solidFill>
          <a:ln/>
        </p:spPr>
      </p:sp>
      <p:sp>
        <p:nvSpPr>
          <p:cNvPr id="7" name="Text 4"/>
          <p:cNvSpPr/>
          <p:nvPr/>
        </p:nvSpPr>
        <p:spPr>
          <a:xfrm>
            <a:off x="6678216" y="8566190"/>
            <a:ext cx="1478042" cy="143113"/>
          </a:xfrm>
          <a:prstGeom prst="rect">
            <a:avLst/>
          </a:prstGeom>
          <a:noFill/>
          <a:ln/>
        </p:spPr>
        <p:txBody>
          <a:bodyPr wrap="none" lIns="0" tIns="0" rIns="0" bIns="0" rtlCol="0" anchor="t"/>
          <a:lstStyle/>
          <a:p>
            <a:pPr algn="l" indent="0" marL="0">
              <a:lnSpc>
                <a:spcPts val="1100"/>
              </a:lnSpc>
              <a:buNone/>
            </a:pPr>
            <a:r>
              <a:rPr lang="en-US" sz="1100" dirty="0">
                <a:solidFill>
                  <a:srgbClr val="D7D4CC"/>
                </a:solidFill>
                <a:latin typeface="Raleway Medium" pitchFamily="34" charset="0"/>
                <a:ea typeface="Raleway Medium" pitchFamily="34" charset="-122"/>
                <a:cs typeface="Raleway Medium" pitchFamily="34" charset="-120"/>
              </a:rPr>
              <a:t>High School Sufficient</a:t>
            </a:r>
            <a:endParaRPr lang="en-US" sz="1100" dirty="0"/>
          </a:p>
        </p:txBody>
      </p:sp>
      <p:sp>
        <p:nvSpPr>
          <p:cNvPr id="8" name="Shape 5"/>
          <p:cNvSpPr/>
          <p:nvPr/>
        </p:nvSpPr>
        <p:spPr>
          <a:xfrm>
            <a:off x="9688235" y="8566190"/>
            <a:ext cx="143113" cy="143113"/>
          </a:xfrm>
          <a:prstGeom prst="roundRect">
            <a:avLst>
              <a:gd name="adj" fmla="val 12779"/>
            </a:avLst>
          </a:prstGeom>
          <a:solidFill>
            <a:srgbClr val="FFE45E"/>
          </a:solidFill>
          <a:ln/>
        </p:spPr>
      </p:sp>
      <p:sp>
        <p:nvSpPr>
          <p:cNvPr id="9" name="Text 6"/>
          <p:cNvSpPr/>
          <p:nvPr/>
        </p:nvSpPr>
        <p:spPr>
          <a:xfrm>
            <a:off x="9892308" y="8566190"/>
            <a:ext cx="1067514" cy="143113"/>
          </a:xfrm>
          <a:prstGeom prst="rect">
            <a:avLst/>
          </a:prstGeom>
          <a:noFill/>
          <a:ln/>
        </p:spPr>
        <p:txBody>
          <a:bodyPr wrap="none" lIns="0" tIns="0" rIns="0" bIns="0" rtlCol="0" anchor="t"/>
          <a:lstStyle/>
          <a:p>
            <a:pPr algn="l" indent="0" marL="0">
              <a:lnSpc>
                <a:spcPts val="1100"/>
              </a:lnSpc>
              <a:buNone/>
            </a:pPr>
            <a:r>
              <a:rPr lang="en-US" sz="1100" dirty="0">
                <a:solidFill>
                  <a:srgbClr val="D7D4CC"/>
                </a:solidFill>
                <a:latin typeface="Raleway Medium" pitchFamily="34" charset="0"/>
                <a:ea typeface="Raleway Medium" pitchFamily="34" charset="-122"/>
                <a:cs typeface="Raleway Medium" pitchFamily="34" charset="-120"/>
              </a:rPr>
              <a:t>Skills Gap Areas</a:t>
            </a:r>
            <a:endParaRPr lang="en-US" sz="1100" dirty="0"/>
          </a:p>
        </p:txBody>
      </p:sp>
      <p:sp>
        <p:nvSpPr>
          <p:cNvPr id="10" name="Text 7"/>
          <p:cNvSpPr/>
          <p:nvPr/>
        </p:nvSpPr>
        <p:spPr>
          <a:xfrm>
            <a:off x="500896" y="9013388"/>
            <a:ext cx="1590318" cy="198834"/>
          </a:xfrm>
          <a:prstGeom prst="rect">
            <a:avLst/>
          </a:prstGeom>
          <a:noFill/>
          <a:ln/>
        </p:spPr>
        <p:txBody>
          <a:bodyPr wrap="none" lIns="0" tIns="0" rIns="0" bIns="0" rtlCol="0" anchor="t"/>
          <a:lstStyle/>
          <a:p>
            <a:pPr algn="l" indent="0" marL="0">
              <a:lnSpc>
                <a:spcPts val="1550"/>
              </a:lnSpc>
              <a:buNone/>
            </a:pPr>
            <a:r>
              <a:rPr lang="en-US" sz="1250" b="1" dirty="0">
                <a:solidFill>
                  <a:srgbClr val="FFE14D"/>
                </a:solidFill>
                <a:latin typeface="Comfortaa Bold" pitchFamily="34" charset="0"/>
                <a:ea typeface="Comfortaa Bold" pitchFamily="34" charset="-122"/>
                <a:cs typeface="Comfortaa Bold" pitchFamily="34" charset="-120"/>
              </a:rPr>
              <a:t>The Challenge</a:t>
            </a:r>
            <a:endParaRPr lang="en-US" sz="1250" dirty="0"/>
          </a:p>
        </p:txBody>
      </p:sp>
      <p:sp>
        <p:nvSpPr>
          <p:cNvPr id="11" name="Text 8"/>
          <p:cNvSpPr/>
          <p:nvPr/>
        </p:nvSpPr>
        <p:spPr>
          <a:xfrm>
            <a:off x="500896" y="9355336"/>
            <a:ext cx="6639758" cy="457914"/>
          </a:xfrm>
          <a:prstGeom prst="rect">
            <a:avLst/>
          </a:prstGeom>
          <a:noFill/>
          <a:ln/>
        </p:spPr>
        <p:txBody>
          <a:bodyPr wrap="square" lIns="0" tIns="0" rIns="0" bIns="0" rtlCol="0" anchor="t"/>
          <a:lstStyle/>
          <a:p>
            <a:pPr algn="l" indent="0" marL="0">
              <a:lnSpc>
                <a:spcPts val="1800"/>
              </a:lnSpc>
              <a:buNone/>
            </a:pPr>
            <a:r>
              <a:rPr lang="en-US" sz="1100" dirty="0">
                <a:solidFill>
                  <a:srgbClr val="D7D4CC"/>
                </a:solidFill>
                <a:latin typeface="Raleway Medium" pitchFamily="34" charset="0"/>
                <a:ea typeface="Raleway Medium" pitchFamily="34" charset="-122"/>
                <a:cs typeface="Raleway Medium" pitchFamily="34" charset="-120"/>
              </a:rPr>
              <a:t>Local employers report a 30% skills gap in critical industries like healthcare, technology, and advanced manufacturing.</a:t>
            </a:r>
            <a:endParaRPr lang="en-US" sz="1100" dirty="0"/>
          </a:p>
        </p:txBody>
      </p:sp>
      <p:sp>
        <p:nvSpPr>
          <p:cNvPr id="12" name="Text 9"/>
          <p:cNvSpPr/>
          <p:nvPr/>
        </p:nvSpPr>
        <p:spPr>
          <a:xfrm>
            <a:off x="7497366" y="9013388"/>
            <a:ext cx="1590318" cy="198834"/>
          </a:xfrm>
          <a:prstGeom prst="rect">
            <a:avLst/>
          </a:prstGeom>
          <a:noFill/>
          <a:ln/>
        </p:spPr>
        <p:txBody>
          <a:bodyPr wrap="none" lIns="0" tIns="0" rIns="0" bIns="0" rtlCol="0" anchor="t"/>
          <a:lstStyle/>
          <a:p>
            <a:pPr algn="l" indent="0" marL="0">
              <a:lnSpc>
                <a:spcPts val="1550"/>
              </a:lnSpc>
              <a:buNone/>
            </a:pPr>
            <a:r>
              <a:rPr lang="en-US" sz="1250" b="1" dirty="0">
                <a:solidFill>
                  <a:srgbClr val="FFE14D"/>
                </a:solidFill>
                <a:latin typeface="Comfortaa Bold" pitchFamily="34" charset="0"/>
                <a:ea typeface="Comfortaa Bold" pitchFamily="34" charset="-122"/>
                <a:cs typeface="Comfortaa Bold" pitchFamily="34" charset="-120"/>
              </a:rPr>
              <a:t>Our Solution</a:t>
            </a:r>
            <a:endParaRPr lang="en-US" sz="1250" dirty="0"/>
          </a:p>
        </p:txBody>
      </p:sp>
      <p:sp>
        <p:nvSpPr>
          <p:cNvPr id="13" name="Text 10"/>
          <p:cNvSpPr/>
          <p:nvPr/>
        </p:nvSpPr>
        <p:spPr>
          <a:xfrm>
            <a:off x="7497366" y="9355336"/>
            <a:ext cx="6639758" cy="457914"/>
          </a:xfrm>
          <a:prstGeom prst="rect">
            <a:avLst/>
          </a:prstGeom>
          <a:noFill/>
          <a:ln/>
        </p:spPr>
        <p:txBody>
          <a:bodyPr wrap="square" lIns="0" tIns="0" rIns="0" bIns="0" rtlCol="0" anchor="t"/>
          <a:lstStyle/>
          <a:p>
            <a:pPr algn="l" indent="0" marL="0">
              <a:lnSpc>
                <a:spcPts val="1800"/>
              </a:lnSpc>
              <a:buNone/>
            </a:pPr>
            <a:r>
              <a:rPr lang="en-US" sz="1100" dirty="0">
                <a:solidFill>
                  <a:srgbClr val="D7D4CC"/>
                </a:solidFill>
                <a:latin typeface="Raleway Medium" pitchFamily="34" charset="0"/>
                <a:ea typeface="Raleway Medium" pitchFamily="34" charset="-122"/>
                <a:cs typeface="Raleway Medium" pitchFamily="34" charset="-120"/>
              </a:rPr>
              <a:t>Rise-up Learning Hub bridges this gap through tailored training programs and direct employer collaboration.</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28161" y="414933"/>
            <a:ext cx="4317802" cy="419219"/>
          </a:xfrm>
          <a:prstGeom prst="rect">
            <a:avLst/>
          </a:prstGeom>
          <a:noFill/>
          <a:ln/>
        </p:spPr>
        <p:txBody>
          <a:bodyPr wrap="none" lIns="0" tIns="0" rIns="0" bIns="0" rtlCol="0" anchor="t"/>
          <a:lstStyle/>
          <a:p>
            <a:pPr algn="l" indent="0" marL="0">
              <a:lnSpc>
                <a:spcPts val="3300"/>
              </a:lnSpc>
              <a:buNone/>
            </a:pPr>
            <a:r>
              <a:rPr lang="en-US" sz="2600" b="1" dirty="0">
                <a:solidFill>
                  <a:srgbClr val="FFE14D"/>
                </a:solidFill>
                <a:latin typeface="Comfortaa Bold" pitchFamily="34" charset="0"/>
                <a:ea typeface="Comfortaa Bold" pitchFamily="34" charset="-122"/>
                <a:cs typeface="Comfortaa Bold" pitchFamily="34" charset="-120"/>
              </a:rPr>
              <a:t>Real Stories, Real Impact</a:t>
            </a:r>
            <a:endParaRPr lang="en-US" sz="2600" dirty="0"/>
          </a:p>
        </p:txBody>
      </p:sp>
      <p:pic>
        <p:nvPicPr>
          <p:cNvPr id="3" name="Image 0" descr="preencoded.png">    </p:cNvPr>
          <p:cNvPicPr>
            <a:picLocks noChangeAspect="1"/>
          </p:cNvPicPr>
          <p:nvPr/>
        </p:nvPicPr>
        <p:blipFill>
          <a:blip r:embed="rId1"/>
          <a:stretch>
            <a:fillRect/>
          </a:stretch>
        </p:blipFill>
        <p:spPr>
          <a:xfrm>
            <a:off x="528161" y="1135975"/>
            <a:ext cx="6692741" cy="6692741"/>
          </a:xfrm>
          <a:prstGeom prst="rect">
            <a:avLst/>
          </a:prstGeom>
        </p:spPr>
      </p:pic>
      <p:sp>
        <p:nvSpPr>
          <p:cNvPr id="4" name="Text 1"/>
          <p:cNvSpPr/>
          <p:nvPr/>
        </p:nvSpPr>
        <p:spPr>
          <a:xfrm>
            <a:off x="528161" y="7979569"/>
            <a:ext cx="1676757" cy="209550"/>
          </a:xfrm>
          <a:prstGeom prst="rect">
            <a:avLst/>
          </a:prstGeom>
          <a:noFill/>
          <a:ln/>
        </p:spPr>
        <p:txBody>
          <a:bodyPr wrap="none" lIns="0" tIns="0" rIns="0" bIns="0" rtlCol="0" anchor="t"/>
          <a:lstStyle/>
          <a:p>
            <a:pPr algn="l" indent="0" marL="0">
              <a:lnSpc>
                <a:spcPts val="1650"/>
              </a:lnSpc>
              <a:buNone/>
            </a:pPr>
            <a:r>
              <a:rPr lang="en-US" sz="1300" b="1" dirty="0">
                <a:solidFill>
                  <a:srgbClr val="D7D4CC"/>
                </a:solidFill>
                <a:latin typeface="Comfortaa Bold" pitchFamily="34" charset="0"/>
                <a:ea typeface="Comfortaa Bold" pitchFamily="34" charset="-122"/>
                <a:cs typeface="Comfortaa Bold" pitchFamily="34" charset="-120"/>
              </a:rPr>
              <a:t>Maria's Journey</a:t>
            </a:r>
            <a:endParaRPr lang="en-US" sz="1300" dirty="0"/>
          </a:p>
        </p:txBody>
      </p:sp>
      <p:sp>
        <p:nvSpPr>
          <p:cNvPr id="5" name="Text 2"/>
          <p:cNvSpPr/>
          <p:nvPr/>
        </p:nvSpPr>
        <p:spPr>
          <a:xfrm>
            <a:off x="528161" y="8279606"/>
            <a:ext cx="6692741" cy="482918"/>
          </a:xfrm>
          <a:prstGeom prst="rect">
            <a:avLst/>
          </a:prstGeom>
          <a:noFill/>
          <a:ln/>
        </p:spPr>
        <p:txBody>
          <a:bodyPr wrap="square" lIns="0" tIns="0" rIns="0" bIns="0" rtlCol="0" anchor="t"/>
          <a:lstStyle/>
          <a:p>
            <a:pPr algn="l" indent="0" marL="0">
              <a:lnSpc>
                <a:spcPts val="1900"/>
              </a:lnSpc>
              <a:buNone/>
            </a:pPr>
            <a:r>
              <a:rPr lang="en-US" sz="1150" dirty="0">
                <a:solidFill>
                  <a:srgbClr val="D7D4CC"/>
                </a:solidFill>
                <a:latin typeface="Raleway Medium" pitchFamily="34" charset="0"/>
                <a:ea typeface="Raleway Medium" pitchFamily="34" charset="-122"/>
                <a:cs typeface="Raleway Medium" pitchFamily="34" charset="-120"/>
              </a:rPr>
              <a:t>A single mom who earned her healthcare certification through our evening program and landed a promotion that doubled her salary. Now she's building a secure future for her family.</a:t>
            </a:r>
            <a:endParaRPr lang="en-US" sz="1150" dirty="0"/>
          </a:p>
        </p:txBody>
      </p:sp>
      <p:pic>
        <p:nvPicPr>
          <p:cNvPr id="6" name="Image 1" descr="preencoded.png">    </p:cNvPr>
          <p:cNvPicPr>
            <a:picLocks noChangeAspect="1"/>
          </p:cNvPicPr>
          <p:nvPr/>
        </p:nvPicPr>
        <p:blipFill>
          <a:blip r:embed="rId2"/>
          <a:stretch>
            <a:fillRect/>
          </a:stretch>
        </p:blipFill>
        <p:spPr>
          <a:xfrm>
            <a:off x="7409498" y="1135975"/>
            <a:ext cx="6692741" cy="6692741"/>
          </a:xfrm>
          <a:prstGeom prst="rect">
            <a:avLst/>
          </a:prstGeom>
        </p:spPr>
      </p:pic>
      <p:sp>
        <p:nvSpPr>
          <p:cNvPr id="7" name="Text 3"/>
          <p:cNvSpPr/>
          <p:nvPr/>
        </p:nvSpPr>
        <p:spPr>
          <a:xfrm>
            <a:off x="7409498" y="7979569"/>
            <a:ext cx="1942386" cy="209550"/>
          </a:xfrm>
          <a:prstGeom prst="rect">
            <a:avLst/>
          </a:prstGeom>
          <a:noFill/>
          <a:ln/>
        </p:spPr>
        <p:txBody>
          <a:bodyPr wrap="none" lIns="0" tIns="0" rIns="0" bIns="0" rtlCol="0" anchor="t"/>
          <a:lstStyle/>
          <a:p>
            <a:pPr algn="l" indent="0" marL="0">
              <a:lnSpc>
                <a:spcPts val="1650"/>
              </a:lnSpc>
              <a:buNone/>
            </a:pPr>
            <a:r>
              <a:rPr lang="en-US" sz="1300" b="1" dirty="0">
                <a:solidFill>
                  <a:srgbClr val="D7D4CC"/>
                </a:solidFill>
                <a:latin typeface="Comfortaa Bold" pitchFamily="34" charset="0"/>
                <a:ea typeface="Comfortaa Bold" pitchFamily="34" charset="-122"/>
                <a:cs typeface="Comfortaa Bold" pitchFamily="34" charset="-120"/>
              </a:rPr>
              <a:t>John's Transformation</a:t>
            </a:r>
            <a:endParaRPr lang="en-US" sz="1300" dirty="0"/>
          </a:p>
        </p:txBody>
      </p:sp>
      <p:sp>
        <p:nvSpPr>
          <p:cNvPr id="8" name="Text 4"/>
          <p:cNvSpPr/>
          <p:nvPr/>
        </p:nvSpPr>
        <p:spPr>
          <a:xfrm>
            <a:off x="7409498" y="8279606"/>
            <a:ext cx="6692741" cy="482918"/>
          </a:xfrm>
          <a:prstGeom prst="rect">
            <a:avLst/>
          </a:prstGeom>
          <a:noFill/>
          <a:ln/>
        </p:spPr>
        <p:txBody>
          <a:bodyPr wrap="square" lIns="0" tIns="0" rIns="0" bIns="0" rtlCol="0" anchor="t"/>
          <a:lstStyle/>
          <a:p>
            <a:pPr algn="l" indent="0" marL="0">
              <a:lnSpc>
                <a:spcPts val="1900"/>
              </a:lnSpc>
              <a:buNone/>
            </a:pPr>
            <a:r>
              <a:rPr lang="en-US" sz="1150" dirty="0">
                <a:solidFill>
                  <a:srgbClr val="D7D4CC"/>
                </a:solidFill>
                <a:latin typeface="Raleway Medium" pitchFamily="34" charset="0"/>
                <a:ea typeface="Raleway Medium" pitchFamily="34" charset="-122"/>
                <a:cs typeface="Raleway Medium" pitchFamily="34" charset="-120"/>
              </a:rPr>
              <a:t>A military veteran who retrained through our technology program and now works as an IT specialist. From uncertainty to expertise in just eight months.</a:t>
            </a:r>
            <a:endParaRPr lang="en-US" sz="1150" dirty="0"/>
          </a:p>
        </p:txBody>
      </p:sp>
      <p:sp>
        <p:nvSpPr>
          <p:cNvPr id="9" name="Text 5"/>
          <p:cNvSpPr/>
          <p:nvPr/>
        </p:nvSpPr>
        <p:spPr>
          <a:xfrm>
            <a:off x="528161" y="8932188"/>
            <a:ext cx="13574078" cy="241459"/>
          </a:xfrm>
          <a:prstGeom prst="rect">
            <a:avLst/>
          </a:prstGeom>
          <a:noFill/>
          <a:ln/>
        </p:spPr>
        <p:txBody>
          <a:bodyPr wrap="none" lIns="0" tIns="0" rIns="0" bIns="0" rtlCol="0" anchor="t"/>
          <a:lstStyle/>
          <a:p>
            <a:pPr algn="l" indent="0" marL="0">
              <a:lnSpc>
                <a:spcPts val="1900"/>
              </a:lnSpc>
              <a:buNone/>
            </a:pPr>
            <a:r>
              <a:rPr lang="en-US" sz="1150" dirty="0">
                <a:solidFill>
                  <a:srgbClr val="D7D4CC"/>
                </a:solidFill>
                <a:latin typeface="Raleway Medium" pitchFamily="34" charset="0"/>
                <a:ea typeface="Raleway Medium" pitchFamily="34" charset="-122"/>
                <a:cs typeface="Raleway Medium" pitchFamily="34" charset="-120"/>
              </a:rPr>
              <a:t>Together, Maria and John represent the </a:t>
            </a:r>
            <a:pPr algn="l" indent="0" marL="0">
              <a:lnSpc>
                <a:spcPts val="1900"/>
              </a:lnSpc>
              <a:buNone/>
            </a:pPr>
            <a:r>
              <a:rPr lang="en-US" sz="1150" b="1" dirty="0">
                <a:solidFill>
                  <a:srgbClr val="D7D4CC"/>
                </a:solidFill>
                <a:latin typeface="Raleway Medium" pitchFamily="34" charset="0"/>
                <a:ea typeface="Raleway Medium" pitchFamily="34" charset="-122"/>
                <a:cs typeface="Raleway Medium" pitchFamily="34" charset="-120"/>
              </a:rPr>
              <a:t>thousands</a:t>
            </a:r>
            <a:pPr algn="l" indent="0" marL="0">
              <a:lnSpc>
                <a:spcPts val="1900"/>
              </a:lnSpc>
              <a:buNone/>
            </a:pPr>
            <a:r>
              <a:rPr lang="en-US" sz="1150" dirty="0">
                <a:solidFill>
                  <a:srgbClr val="D7D4CC"/>
                </a:solidFill>
                <a:latin typeface="Raleway Medium" pitchFamily="34" charset="0"/>
                <a:ea typeface="Raleway Medium" pitchFamily="34" charset="-122"/>
                <a:cs typeface="Raleway Medium" pitchFamily="34" charset="-120"/>
              </a:rPr>
              <a:t> we've helped rise up and transform their lives through education and opportunity.</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44233" y="930354"/>
            <a:ext cx="7628334" cy="1203008"/>
          </a:xfrm>
          <a:prstGeom prst="rect">
            <a:avLst/>
          </a:prstGeom>
          <a:noFill/>
          <a:ln/>
        </p:spPr>
        <p:txBody>
          <a:bodyPr wrap="square" lIns="0" tIns="0" rIns="0" bIns="0" rtlCol="0" anchor="t"/>
          <a:lstStyle/>
          <a:p>
            <a:pPr algn="l" indent="0" marL="0">
              <a:lnSpc>
                <a:spcPts val="4700"/>
              </a:lnSpc>
              <a:buNone/>
            </a:pPr>
            <a:r>
              <a:rPr lang="en-US" sz="3750" b="1" dirty="0">
                <a:solidFill>
                  <a:srgbClr val="FFE14D"/>
                </a:solidFill>
                <a:latin typeface="Comfortaa Bold" pitchFamily="34" charset="0"/>
                <a:ea typeface="Comfortaa Bold" pitchFamily="34" charset="-122"/>
                <a:cs typeface="Comfortaa Bold" pitchFamily="34" charset="-120"/>
              </a:rPr>
              <a:t>Our Programs: Flexible, Practical, Career-Focused</a:t>
            </a:r>
            <a:endParaRPr lang="en-US" sz="3750" dirty="0"/>
          </a:p>
        </p:txBody>
      </p:sp>
      <p:sp>
        <p:nvSpPr>
          <p:cNvPr id="4" name="Text 1"/>
          <p:cNvSpPr/>
          <p:nvPr/>
        </p:nvSpPr>
        <p:spPr>
          <a:xfrm>
            <a:off x="6244233" y="2458164"/>
            <a:ext cx="216456" cy="270629"/>
          </a:xfrm>
          <a:prstGeom prst="rect">
            <a:avLst/>
          </a:prstGeom>
          <a:noFill/>
          <a:ln/>
        </p:spPr>
        <p:txBody>
          <a:bodyPr wrap="none" lIns="0" tIns="0" rIns="0" bIns="0" rtlCol="0" anchor="t"/>
          <a:lstStyle/>
          <a:p>
            <a:pPr algn="l" indent="0" marL="0">
              <a:lnSpc>
                <a:spcPts val="2700"/>
              </a:lnSpc>
              <a:buNone/>
            </a:pPr>
            <a:r>
              <a:rPr lang="en-US" sz="1700" dirty="0">
                <a:solidFill>
                  <a:srgbClr val="D7D4CC"/>
                </a:solidFill>
                <a:latin typeface="Comfortaa Light" pitchFamily="34" charset="0"/>
                <a:ea typeface="Comfortaa Light" pitchFamily="34" charset="-122"/>
                <a:cs typeface="Comfortaa Light" pitchFamily="34" charset="-120"/>
              </a:rPr>
              <a:t>01</a:t>
            </a:r>
            <a:endParaRPr lang="en-US" sz="1700" dirty="0"/>
          </a:p>
        </p:txBody>
      </p:sp>
      <p:sp>
        <p:nvSpPr>
          <p:cNvPr id="5" name="Shape 2"/>
          <p:cNvSpPr/>
          <p:nvPr/>
        </p:nvSpPr>
        <p:spPr>
          <a:xfrm>
            <a:off x="6244233" y="2795588"/>
            <a:ext cx="3705939" cy="30480"/>
          </a:xfrm>
          <a:prstGeom prst="rect">
            <a:avLst/>
          </a:prstGeom>
          <a:solidFill>
            <a:srgbClr val="FFE14D"/>
          </a:solidFill>
          <a:ln/>
        </p:spPr>
      </p:sp>
      <p:sp>
        <p:nvSpPr>
          <p:cNvPr id="6" name="Text 3"/>
          <p:cNvSpPr/>
          <p:nvPr/>
        </p:nvSpPr>
        <p:spPr>
          <a:xfrm>
            <a:off x="6244233" y="2964775"/>
            <a:ext cx="2440900" cy="300752"/>
          </a:xfrm>
          <a:prstGeom prst="rect">
            <a:avLst/>
          </a:prstGeom>
          <a:noFill/>
          <a:ln/>
        </p:spPr>
        <p:txBody>
          <a:bodyPr wrap="none" lIns="0" tIns="0" rIns="0" bIns="0" rtlCol="0" anchor="t"/>
          <a:lstStyle/>
          <a:p>
            <a:pPr algn="l" indent="0" marL="0">
              <a:lnSpc>
                <a:spcPts val="2350"/>
              </a:lnSpc>
              <a:buNone/>
            </a:pPr>
            <a:r>
              <a:rPr lang="en-US" sz="1850" b="1" dirty="0">
                <a:solidFill>
                  <a:srgbClr val="D7D4CC"/>
                </a:solidFill>
                <a:latin typeface="Comfortaa Bold" pitchFamily="34" charset="0"/>
                <a:ea typeface="Comfortaa Bold" pitchFamily="34" charset="-122"/>
                <a:cs typeface="Comfortaa Bold" pitchFamily="34" charset="-120"/>
              </a:rPr>
              <a:t>Flexible Scheduling</a:t>
            </a:r>
            <a:endParaRPr lang="en-US" sz="1850" dirty="0"/>
          </a:p>
        </p:txBody>
      </p:sp>
      <p:sp>
        <p:nvSpPr>
          <p:cNvPr id="7" name="Text 4"/>
          <p:cNvSpPr/>
          <p:nvPr/>
        </p:nvSpPr>
        <p:spPr>
          <a:xfrm>
            <a:off x="6244233" y="3395424"/>
            <a:ext cx="3705939" cy="1385888"/>
          </a:xfrm>
          <a:prstGeom prst="rect">
            <a:avLst/>
          </a:prstGeom>
          <a:noFill/>
          <a:ln/>
        </p:spPr>
        <p:txBody>
          <a:bodyPr wrap="square" lIns="0" tIns="0" rIns="0" bIns="0" rtlCol="0" anchor="t"/>
          <a:lstStyle/>
          <a:p>
            <a:pPr algn="l" indent="0" marL="0">
              <a:lnSpc>
                <a:spcPts val="2700"/>
              </a:lnSpc>
              <a:buNone/>
            </a:pPr>
            <a:r>
              <a:rPr lang="en-US" sz="1700" dirty="0">
                <a:solidFill>
                  <a:srgbClr val="D7D4CC"/>
                </a:solidFill>
                <a:latin typeface="Raleway Medium" pitchFamily="34" charset="0"/>
                <a:ea typeface="Raleway Medium" pitchFamily="34" charset="-122"/>
                <a:cs typeface="Raleway Medium" pitchFamily="34" charset="-120"/>
              </a:rPr>
              <a:t>Evening and weekend classes, plus online and hybrid options. Education that adapts to your life, not the other way around.</a:t>
            </a:r>
            <a:endParaRPr lang="en-US" sz="1700" dirty="0"/>
          </a:p>
        </p:txBody>
      </p:sp>
      <p:sp>
        <p:nvSpPr>
          <p:cNvPr id="8" name="Text 5"/>
          <p:cNvSpPr/>
          <p:nvPr/>
        </p:nvSpPr>
        <p:spPr>
          <a:xfrm>
            <a:off x="10166628" y="2458164"/>
            <a:ext cx="216456" cy="270629"/>
          </a:xfrm>
          <a:prstGeom prst="rect">
            <a:avLst/>
          </a:prstGeom>
          <a:noFill/>
          <a:ln/>
        </p:spPr>
        <p:txBody>
          <a:bodyPr wrap="none" lIns="0" tIns="0" rIns="0" bIns="0" rtlCol="0" anchor="t"/>
          <a:lstStyle/>
          <a:p>
            <a:pPr algn="l" indent="0" marL="0">
              <a:lnSpc>
                <a:spcPts val="2700"/>
              </a:lnSpc>
              <a:buNone/>
            </a:pPr>
            <a:r>
              <a:rPr lang="en-US" sz="1700" dirty="0">
                <a:solidFill>
                  <a:srgbClr val="D7D4CC"/>
                </a:solidFill>
                <a:latin typeface="Comfortaa Light" pitchFamily="34" charset="0"/>
                <a:ea typeface="Comfortaa Light" pitchFamily="34" charset="-122"/>
                <a:cs typeface="Comfortaa Light" pitchFamily="34" charset="-120"/>
              </a:rPr>
              <a:t>02</a:t>
            </a:r>
            <a:endParaRPr lang="en-US" sz="1700" dirty="0"/>
          </a:p>
        </p:txBody>
      </p:sp>
      <p:sp>
        <p:nvSpPr>
          <p:cNvPr id="9" name="Shape 6"/>
          <p:cNvSpPr/>
          <p:nvPr/>
        </p:nvSpPr>
        <p:spPr>
          <a:xfrm>
            <a:off x="10166628" y="2795588"/>
            <a:ext cx="3705939" cy="30480"/>
          </a:xfrm>
          <a:prstGeom prst="rect">
            <a:avLst/>
          </a:prstGeom>
          <a:solidFill>
            <a:srgbClr val="FFE14D"/>
          </a:solidFill>
          <a:ln/>
        </p:spPr>
      </p:sp>
      <p:sp>
        <p:nvSpPr>
          <p:cNvPr id="10" name="Text 7"/>
          <p:cNvSpPr/>
          <p:nvPr/>
        </p:nvSpPr>
        <p:spPr>
          <a:xfrm>
            <a:off x="10166628" y="2964775"/>
            <a:ext cx="2820710" cy="300752"/>
          </a:xfrm>
          <a:prstGeom prst="rect">
            <a:avLst/>
          </a:prstGeom>
          <a:noFill/>
          <a:ln/>
        </p:spPr>
        <p:txBody>
          <a:bodyPr wrap="none" lIns="0" tIns="0" rIns="0" bIns="0" rtlCol="0" anchor="t"/>
          <a:lstStyle/>
          <a:p>
            <a:pPr algn="l" indent="0" marL="0">
              <a:lnSpc>
                <a:spcPts val="2350"/>
              </a:lnSpc>
              <a:buNone/>
            </a:pPr>
            <a:r>
              <a:rPr lang="en-US" sz="1850" b="1" dirty="0">
                <a:solidFill>
                  <a:srgbClr val="D7D4CC"/>
                </a:solidFill>
                <a:latin typeface="Comfortaa Bold" pitchFamily="34" charset="0"/>
                <a:ea typeface="Comfortaa Bold" pitchFamily="34" charset="-122"/>
                <a:cs typeface="Comfortaa Bold" pitchFamily="34" charset="-120"/>
              </a:rPr>
              <a:t>Industry Certifications</a:t>
            </a:r>
            <a:endParaRPr lang="en-US" sz="1850" dirty="0"/>
          </a:p>
        </p:txBody>
      </p:sp>
      <p:sp>
        <p:nvSpPr>
          <p:cNvPr id="11" name="Text 8"/>
          <p:cNvSpPr/>
          <p:nvPr/>
        </p:nvSpPr>
        <p:spPr>
          <a:xfrm>
            <a:off x="10166628" y="3395424"/>
            <a:ext cx="3705939" cy="1732359"/>
          </a:xfrm>
          <a:prstGeom prst="rect">
            <a:avLst/>
          </a:prstGeom>
          <a:noFill/>
          <a:ln/>
        </p:spPr>
        <p:txBody>
          <a:bodyPr wrap="square" lIns="0" tIns="0" rIns="0" bIns="0" rtlCol="0" anchor="t"/>
          <a:lstStyle/>
          <a:p>
            <a:pPr algn="l" indent="0" marL="0">
              <a:lnSpc>
                <a:spcPts val="2700"/>
              </a:lnSpc>
              <a:buNone/>
            </a:pPr>
            <a:r>
              <a:rPr lang="en-US" sz="1700" dirty="0">
                <a:solidFill>
                  <a:srgbClr val="D7D4CC"/>
                </a:solidFill>
                <a:latin typeface="Raleway Medium" pitchFamily="34" charset="0"/>
                <a:ea typeface="Raleway Medium" pitchFamily="34" charset="-122"/>
                <a:cs typeface="Raleway Medium" pitchFamily="34" charset="-120"/>
              </a:rPr>
              <a:t>Programs in healthcare, information technology, manufacturing, and emerging fields. All credentials are industry-recognized and employer-validated.</a:t>
            </a:r>
            <a:endParaRPr lang="en-US" sz="1700" dirty="0"/>
          </a:p>
        </p:txBody>
      </p:sp>
      <p:sp>
        <p:nvSpPr>
          <p:cNvPr id="12" name="Text 9"/>
          <p:cNvSpPr/>
          <p:nvPr/>
        </p:nvSpPr>
        <p:spPr>
          <a:xfrm>
            <a:off x="6244233" y="5506641"/>
            <a:ext cx="216456" cy="270629"/>
          </a:xfrm>
          <a:prstGeom prst="rect">
            <a:avLst/>
          </a:prstGeom>
          <a:noFill/>
          <a:ln/>
        </p:spPr>
        <p:txBody>
          <a:bodyPr wrap="none" lIns="0" tIns="0" rIns="0" bIns="0" rtlCol="0" anchor="t"/>
          <a:lstStyle/>
          <a:p>
            <a:pPr algn="l" indent="0" marL="0">
              <a:lnSpc>
                <a:spcPts val="2700"/>
              </a:lnSpc>
              <a:buNone/>
            </a:pPr>
            <a:r>
              <a:rPr lang="en-US" sz="1700" dirty="0">
                <a:solidFill>
                  <a:srgbClr val="D7D4CC"/>
                </a:solidFill>
                <a:latin typeface="Comfortaa Light" pitchFamily="34" charset="0"/>
                <a:ea typeface="Comfortaa Light" pitchFamily="34" charset="-122"/>
                <a:cs typeface="Comfortaa Light" pitchFamily="34" charset="-120"/>
              </a:rPr>
              <a:t>03</a:t>
            </a:r>
            <a:endParaRPr lang="en-US" sz="1700" dirty="0"/>
          </a:p>
        </p:txBody>
      </p:sp>
      <p:sp>
        <p:nvSpPr>
          <p:cNvPr id="13" name="Shape 10"/>
          <p:cNvSpPr/>
          <p:nvPr/>
        </p:nvSpPr>
        <p:spPr>
          <a:xfrm>
            <a:off x="6244233" y="5844064"/>
            <a:ext cx="7628334" cy="30480"/>
          </a:xfrm>
          <a:prstGeom prst="rect">
            <a:avLst/>
          </a:prstGeom>
          <a:solidFill>
            <a:srgbClr val="FFE14D"/>
          </a:solidFill>
          <a:ln/>
        </p:spPr>
      </p:sp>
      <p:sp>
        <p:nvSpPr>
          <p:cNvPr id="14" name="Text 11"/>
          <p:cNvSpPr/>
          <p:nvPr/>
        </p:nvSpPr>
        <p:spPr>
          <a:xfrm>
            <a:off x="6244233" y="6013252"/>
            <a:ext cx="2406134" cy="300752"/>
          </a:xfrm>
          <a:prstGeom prst="rect">
            <a:avLst/>
          </a:prstGeom>
          <a:noFill/>
          <a:ln/>
        </p:spPr>
        <p:txBody>
          <a:bodyPr wrap="none" lIns="0" tIns="0" rIns="0" bIns="0" rtlCol="0" anchor="t"/>
          <a:lstStyle/>
          <a:p>
            <a:pPr algn="l" indent="0" marL="0">
              <a:lnSpc>
                <a:spcPts val="2350"/>
              </a:lnSpc>
              <a:buNone/>
            </a:pPr>
            <a:r>
              <a:rPr lang="en-US" sz="1850" b="1" dirty="0">
                <a:solidFill>
                  <a:srgbClr val="D7D4CC"/>
                </a:solidFill>
                <a:latin typeface="Comfortaa Bold" pitchFamily="34" charset="0"/>
                <a:ea typeface="Comfortaa Bold" pitchFamily="34" charset="-122"/>
                <a:cs typeface="Comfortaa Bold" pitchFamily="34" charset="-120"/>
              </a:rPr>
              <a:t>Career Support</a:t>
            </a:r>
            <a:endParaRPr lang="en-US" sz="1850" dirty="0"/>
          </a:p>
        </p:txBody>
      </p:sp>
      <p:sp>
        <p:nvSpPr>
          <p:cNvPr id="15" name="Text 12"/>
          <p:cNvSpPr/>
          <p:nvPr/>
        </p:nvSpPr>
        <p:spPr>
          <a:xfrm>
            <a:off x="6244233" y="6443901"/>
            <a:ext cx="7628334" cy="692944"/>
          </a:xfrm>
          <a:prstGeom prst="rect">
            <a:avLst/>
          </a:prstGeom>
          <a:noFill/>
          <a:ln/>
        </p:spPr>
        <p:txBody>
          <a:bodyPr wrap="square" lIns="0" tIns="0" rIns="0" bIns="0" rtlCol="0" anchor="t"/>
          <a:lstStyle/>
          <a:p>
            <a:pPr algn="l" indent="0" marL="0">
              <a:lnSpc>
                <a:spcPts val="2700"/>
              </a:lnSpc>
              <a:buNone/>
            </a:pPr>
            <a:r>
              <a:rPr lang="en-US" sz="1700" dirty="0">
                <a:solidFill>
                  <a:srgbClr val="D7D4CC"/>
                </a:solidFill>
                <a:latin typeface="Raleway Medium" pitchFamily="34" charset="0"/>
                <a:ea typeface="Raleway Medium" pitchFamily="34" charset="-122"/>
                <a:cs typeface="Raleway Medium" pitchFamily="34" charset="-120"/>
              </a:rPr>
              <a:t>Comprehensive career coaching, resume building, interview preparation, and direct job placement assistance with our partner employers.</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864037" y="1917621"/>
            <a:ext cx="7415927" cy="2838926"/>
          </a:xfrm>
          <a:prstGeom prst="rect">
            <a:avLst/>
          </a:prstGeom>
          <a:noFill/>
          <a:ln/>
        </p:spPr>
        <p:txBody>
          <a:bodyPr wrap="square" lIns="0" tIns="0" rIns="0" bIns="0" rtlCol="0" anchor="t"/>
          <a:lstStyle/>
          <a:p>
            <a:pPr algn="l" indent="0" marL="0">
              <a:lnSpc>
                <a:spcPts val="7450"/>
              </a:lnSpc>
              <a:buNone/>
            </a:pPr>
            <a:r>
              <a:rPr lang="en-US" sz="5950" b="1" dirty="0">
                <a:solidFill>
                  <a:srgbClr val="FFE14D"/>
                </a:solidFill>
                <a:latin typeface="Comfortaa Bold" pitchFamily="34" charset="0"/>
                <a:ea typeface="Comfortaa Bold" pitchFamily="34" charset="-122"/>
                <a:cs typeface="Comfortaa Bold" pitchFamily="34" charset="-120"/>
              </a:rPr>
              <a:t>Strong Partnerships, Stronger Futures</a:t>
            </a:r>
            <a:endParaRPr lang="en-US" sz="5950" dirty="0"/>
          </a:p>
        </p:txBody>
      </p:sp>
      <p:sp>
        <p:nvSpPr>
          <p:cNvPr id="4" name="Text 1"/>
          <p:cNvSpPr/>
          <p:nvPr/>
        </p:nvSpPr>
        <p:spPr>
          <a:xfrm>
            <a:off x="864037" y="5126831"/>
            <a:ext cx="7415927" cy="1185148"/>
          </a:xfrm>
          <a:prstGeom prst="rect">
            <a:avLst/>
          </a:prstGeom>
          <a:noFill/>
          <a:ln/>
        </p:spPr>
        <p:txBody>
          <a:bodyPr wrap="square" lIns="0" tIns="0" rIns="0" bIns="0" rtlCol="0" anchor="t"/>
          <a:lstStyle/>
          <a:p>
            <a:pPr algn="l" indent="0" marL="0">
              <a:lnSpc>
                <a:spcPts val="3100"/>
              </a:lnSpc>
              <a:buNone/>
            </a:pPr>
            <a:r>
              <a:rPr lang="en-US" sz="1900" dirty="0">
                <a:solidFill>
                  <a:srgbClr val="D7D4CC"/>
                </a:solidFill>
                <a:latin typeface="Raleway Medium" pitchFamily="34" charset="0"/>
                <a:ea typeface="Raleway Medium" pitchFamily="34" charset="-122"/>
                <a:cs typeface="Raleway Medium" pitchFamily="34" charset="-120"/>
              </a:rPr>
              <a:t>We work directly with Tulsa's top employers to ensure our graduates have the exact skills companies need and clear pathways to rewarding careers.</a:t>
            </a:r>
            <a:endParaRPr lang="en-US" sz="1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864037" y="1551384"/>
            <a:ext cx="10138410" cy="685800"/>
          </a:xfrm>
          <a:prstGeom prst="rect">
            <a:avLst/>
          </a:prstGeom>
          <a:noFill/>
          <a:ln/>
        </p:spPr>
        <p:txBody>
          <a:bodyPr wrap="none" lIns="0" tIns="0" rIns="0" bIns="0" rtlCol="0" anchor="t"/>
          <a:lstStyle/>
          <a:p>
            <a:pPr algn="l" indent="0" marL="0">
              <a:lnSpc>
                <a:spcPts val="5400"/>
              </a:lnSpc>
              <a:buNone/>
            </a:pPr>
            <a:r>
              <a:rPr lang="en-US" sz="4300" b="1" dirty="0">
                <a:solidFill>
                  <a:srgbClr val="FFE14D"/>
                </a:solidFill>
                <a:latin typeface="Comfortaa Bold" pitchFamily="34" charset="0"/>
                <a:ea typeface="Comfortaa Bold" pitchFamily="34" charset="-122"/>
                <a:cs typeface="Comfortaa Bold" pitchFamily="34" charset="-120"/>
              </a:rPr>
              <a:t>Join Us in Building a Thriving Tulsa</a:t>
            </a:r>
            <a:endParaRPr lang="en-US" sz="4300" dirty="0"/>
          </a:p>
        </p:txBody>
      </p:sp>
      <p:sp>
        <p:nvSpPr>
          <p:cNvPr id="3" name="Shape 1"/>
          <p:cNvSpPr/>
          <p:nvPr/>
        </p:nvSpPr>
        <p:spPr>
          <a:xfrm>
            <a:off x="864037" y="2730937"/>
            <a:ext cx="4136231" cy="3947279"/>
          </a:xfrm>
          <a:prstGeom prst="roundRect">
            <a:avLst>
              <a:gd name="adj" fmla="val 9382"/>
            </a:avLst>
          </a:prstGeom>
          <a:solidFill>
            <a:srgbClr val="46464A"/>
          </a:solidFill>
          <a:ln/>
        </p:spPr>
      </p:sp>
      <p:sp>
        <p:nvSpPr>
          <p:cNvPr id="4" name="Shape 2"/>
          <p:cNvSpPr/>
          <p:nvPr/>
        </p:nvSpPr>
        <p:spPr>
          <a:xfrm>
            <a:off x="1110853" y="2977753"/>
            <a:ext cx="740569" cy="740569"/>
          </a:xfrm>
          <a:prstGeom prst="roundRect">
            <a:avLst>
              <a:gd name="adj" fmla="val 12346028"/>
            </a:avLst>
          </a:prstGeom>
          <a:solidFill>
            <a:srgbClr val="FFE14D"/>
          </a:solidFill>
          <a:ln/>
        </p:spPr>
      </p:sp>
      <p:pic>
        <p:nvPicPr>
          <p:cNvPr id="5" name="Image 0" descr="preencoded.png">    </p:cNvPr>
          <p:cNvPicPr>
            <a:picLocks noChangeAspect="1"/>
          </p:cNvPicPr>
          <p:nvPr/>
        </p:nvPicPr>
        <p:blipFill>
          <a:blip r:embed="rId1"/>
          <a:stretch>
            <a:fillRect/>
          </a:stretch>
        </p:blipFill>
        <p:spPr>
          <a:xfrm>
            <a:off x="1314450" y="3139678"/>
            <a:ext cx="333256" cy="416600"/>
          </a:xfrm>
          <a:prstGeom prst="rect">
            <a:avLst/>
          </a:prstGeom>
        </p:spPr>
      </p:pic>
      <p:sp>
        <p:nvSpPr>
          <p:cNvPr id="6" name="Text 3"/>
          <p:cNvSpPr/>
          <p:nvPr/>
        </p:nvSpPr>
        <p:spPr>
          <a:xfrm>
            <a:off x="1110853" y="3965138"/>
            <a:ext cx="2743200" cy="342900"/>
          </a:xfrm>
          <a:prstGeom prst="rect">
            <a:avLst/>
          </a:prstGeom>
          <a:noFill/>
          <a:ln/>
        </p:spPr>
        <p:txBody>
          <a:bodyPr wrap="none" lIns="0" tIns="0" rIns="0" bIns="0" rtlCol="0" anchor="t"/>
          <a:lstStyle/>
          <a:p>
            <a:pPr algn="l" indent="0" marL="0">
              <a:lnSpc>
                <a:spcPts val="2700"/>
              </a:lnSpc>
              <a:buNone/>
            </a:pPr>
            <a:r>
              <a:rPr lang="en-US" sz="2150" b="1" dirty="0">
                <a:solidFill>
                  <a:srgbClr val="D7D4CC"/>
                </a:solidFill>
                <a:latin typeface="Comfortaa Bold" pitchFamily="34" charset="0"/>
                <a:ea typeface="Comfortaa Bold" pitchFamily="34" charset="-122"/>
                <a:cs typeface="Comfortaa Bold" pitchFamily="34" charset="-120"/>
              </a:rPr>
              <a:t>For Learners</a:t>
            </a:r>
            <a:endParaRPr lang="en-US" sz="2150" dirty="0"/>
          </a:p>
        </p:txBody>
      </p:sp>
      <p:sp>
        <p:nvSpPr>
          <p:cNvPr id="7" name="Text 4"/>
          <p:cNvSpPr/>
          <p:nvPr/>
        </p:nvSpPr>
        <p:spPr>
          <a:xfrm>
            <a:off x="1110853" y="4456152"/>
            <a:ext cx="3642598" cy="1975247"/>
          </a:xfrm>
          <a:prstGeom prst="rect">
            <a:avLst/>
          </a:prstGeom>
          <a:noFill/>
          <a:ln/>
        </p:spPr>
        <p:txBody>
          <a:bodyPr wrap="square" lIns="0" tIns="0" rIns="0" bIns="0" rtlCol="0" anchor="t"/>
          <a:lstStyle/>
          <a:p>
            <a:pPr algn="l" indent="0" marL="0">
              <a:lnSpc>
                <a:spcPts val="3100"/>
              </a:lnSpc>
              <a:buNone/>
            </a:pPr>
            <a:r>
              <a:rPr lang="en-US" sz="1900" dirty="0">
                <a:solidFill>
                  <a:srgbClr val="D7D4CC"/>
                </a:solidFill>
                <a:latin typeface="Raleway Medium" pitchFamily="34" charset="0"/>
                <a:ea typeface="Raleway Medium" pitchFamily="34" charset="-122"/>
                <a:cs typeface="Raleway Medium" pitchFamily="34" charset="-120"/>
              </a:rPr>
              <a:t>Start your transformative journey today with Rise-up Learning Hub. Take the first step toward the career and future you deserve.</a:t>
            </a:r>
            <a:endParaRPr lang="en-US" sz="1900" dirty="0"/>
          </a:p>
        </p:txBody>
      </p:sp>
      <p:sp>
        <p:nvSpPr>
          <p:cNvPr id="8" name="Shape 5"/>
          <p:cNvSpPr/>
          <p:nvPr/>
        </p:nvSpPr>
        <p:spPr>
          <a:xfrm>
            <a:off x="5247084" y="2730937"/>
            <a:ext cx="4136231" cy="3947279"/>
          </a:xfrm>
          <a:prstGeom prst="roundRect">
            <a:avLst>
              <a:gd name="adj" fmla="val 9382"/>
            </a:avLst>
          </a:prstGeom>
          <a:solidFill>
            <a:srgbClr val="46464A"/>
          </a:solidFill>
          <a:ln/>
        </p:spPr>
      </p:sp>
      <p:sp>
        <p:nvSpPr>
          <p:cNvPr id="9" name="Shape 6"/>
          <p:cNvSpPr/>
          <p:nvPr/>
        </p:nvSpPr>
        <p:spPr>
          <a:xfrm>
            <a:off x="5493901" y="2977753"/>
            <a:ext cx="740569" cy="740569"/>
          </a:xfrm>
          <a:prstGeom prst="roundRect">
            <a:avLst>
              <a:gd name="adj" fmla="val 12346028"/>
            </a:avLst>
          </a:prstGeom>
          <a:solidFill>
            <a:srgbClr val="FFE14D"/>
          </a:solidFill>
          <a:ln/>
        </p:spPr>
      </p:sp>
      <p:pic>
        <p:nvPicPr>
          <p:cNvPr id="10" name="Image 1" descr="preencoded.png">    </p:cNvPr>
          <p:cNvPicPr>
            <a:picLocks noChangeAspect="1"/>
          </p:cNvPicPr>
          <p:nvPr/>
        </p:nvPicPr>
        <p:blipFill>
          <a:blip r:embed="rId2"/>
          <a:stretch>
            <a:fillRect/>
          </a:stretch>
        </p:blipFill>
        <p:spPr>
          <a:xfrm>
            <a:off x="5697498" y="3139678"/>
            <a:ext cx="333256" cy="416600"/>
          </a:xfrm>
          <a:prstGeom prst="rect">
            <a:avLst/>
          </a:prstGeom>
        </p:spPr>
      </p:pic>
      <p:sp>
        <p:nvSpPr>
          <p:cNvPr id="11" name="Text 7"/>
          <p:cNvSpPr/>
          <p:nvPr/>
        </p:nvSpPr>
        <p:spPr>
          <a:xfrm>
            <a:off x="5493901" y="3965138"/>
            <a:ext cx="2743200" cy="342900"/>
          </a:xfrm>
          <a:prstGeom prst="rect">
            <a:avLst/>
          </a:prstGeom>
          <a:noFill/>
          <a:ln/>
        </p:spPr>
        <p:txBody>
          <a:bodyPr wrap="none" lIns="0" tIns="0" rIns="0" bIns="0" rtlCol="0" anchor="t"/>
          <a:lstStyle/>
          <a:p>
            <a:pPr algn="l" indent="0" marL="0">
              <a:lnSpc>
                <a:spcPts val="2700"/>
              </a:lnSpc>
              <a:buNone/>
            </a:pPr>
            <a:r>
              <a:rPr lang="en-US" sz="2150" b="1" dirty="0">
                <a:solidFill>
                  <a:srgbClr val="D7D4CC"/>
                </a:solidFill>
                <a:latin typeface="Comfortaa Bold" pitchFamily="34" charset="0"/>
                <a:ea typeface="Comfortaa Bold" pitchFamily="34" charset="-122"/>
                <a:cs typeface="Comfortaa Bold" pitchFamily="34" charset="-120"/>
              </a:rPr>
              <a:t>For Employers</a:t>
            </a:r>
            <a:endParaRPr lang="en-US" sz="2150" dirty="0"/>
          </a:p>
        </p:txBody>
      </p:sp>
      <p:sp>
        <p:nvSpPr>
          <p:cNvPr id="12" name="Text 8"/>
          <p:cNvSpPr/>
          <p:nvPr/>
        </p:nvSpPr>
        <p:spPr>
          <a:xfrm>
            <a:off x="5493901" y="4456152"/>
            <a:ext cx="3642598" cy="1975247"/>
          </a:xfrm>
          <a:prstGeom prst="rect">
            <a:avLst/>
          </a:prstGeom>
          <a:noFill/>
          <a:ln/>
        </p:spPr>
        <p:txBody>
          <a:bodyPr wrap="square" lIns="0" tIns="0" rIns="0" bIns="0" rtlCol="0" anchor="t"/>
          <a:lstStyle/>
          <a:p>
            <a:pPr algn="l" indent="0" marL="0">
              <a:lnSpc>
                <a:spcPts val="3100"/>
              </a:lnSpc>
              <a:buNone/>
            </a:pPr>
            <a:r>
              <a:rPr lang="en-US" sz="1900" dirty="0">
                <a:solidFill>
                  <a:srgbClr val="D7D4CC"/>
                </a:solidFill>
                <a:latin typeface="Raleway Medium" pitchFamily="34" charset="0"/>
                <a:ea typeface="Raleway Medium" pitchFamily="34" charset="-122"/>
                <a:cs typeface="Raleway Medium" pitchFamily="34" charset="-120"/>
              </a:rPr>
              <a:t>Partner with us to develop your future workforce. Access skilled, motivated graduates ready to contribute from day one.</a:t>
            </a:r>
            <a:endParaRPr lang="en-US" sz="1900" dirty="0"/>
          </a:p>
        </p:txBody>
      </p:sp>
      <p:sp>
        <p:nvSpPr>
          <p:cNvPr id="13" name="Shape 9"/>
          <p:cNvSpPr/>
          <p:nvPr/>
        </p:nvSpPr>
        <p:spPr>
          <a:xfrm>
            <a:off x="9630132" y="2730937"/>
            <a:ext cx="4136231" cy="3947279"/>
          </a:xfrm>
          <a:prstGeom prst="roundRect">
            <a:avLst>
              <a:gd name="adj" fmla="val 9382"/>
            </a:avLst>
          </a:prstGeom>
          <a:solidFill>
            <a:srgbClr val="46464A"/>
          </a:solidFill>
          <a:ln/>
        </p:spPr>
      </p:sp>
      <p:sp>
        <p:nvSpPr>
          <p:cNvPr id="14" name="Shape 10"/>
          <p:cNvSpPr/>
          <p:nvPr/>
        </p:nvSpPr>
        <p:spPr>
          <a:xfrm>
            <a:off x="9876949" y="2977753"/>
            <a:ext cx="740569" cy="740569"/>
          </a:xfrm>
          <a:prstGeom prst="roundRect">
            <a:avLst>
              <a:gd name="adj" fmla="val 12346028"/>
            </a:avLst>
          </a:prstGeom>
          <a:solidFill>
            <a:srgbClr val="FFE14D"/>
          </a:solidFill>
          <a:ln/>
        </p:spPr>
      </p:sp>
      <p:pic>
        <p:nvPicPr>
          <p:cNvPr id="15" name="Image 2" descr="preencoded.png">    </p:cNvPr>
          <p:cNvPicPr>
            <a:picLocks noChangeAspect="1"/>
          </p:cNvPicPr>
          <p:nvPr/>
        </p:nvPicPr>
        <p:blipFill>
          <a:blip r:embed="rId3"/>
          <a:stretch>
            <a:fillRect/>
          </a:stretch>
        </p:blipFill>
        <p:spPr>
          <a:xfrm>
            <a:off x="10080546" y="3139678"/>
            <a:ext cx="333256" cy="416600"/>
          </a:xfrm>
          <a:prstGeom prst="rect">
            <a:avLst/>
          </a:prstGeom>
        </p:spPr>
      </p:pic>
      <p:sp>
        <p:nvSpPr>
          <p:cNvPr id="16" name="Text 11"/>
          <p:cNvSpPr/>
          <p:nvPr/>
        </p:nvSpPr>
        <p:spPr>
          <a:xfrm>
            <a:off x="9876949" y="3965138"/>
            <a:ext cx="2743200" cy="342900"/>
          </a:xfrm>
          <a:prstGeom prst="rect">
            <a:avLst/>
          </a:prstGeom>
          <a:noFill/>
          <a:ln/>
        </p:spPr>
        <p:txBody>
          <a:bodyPr wrap="none" lIns="0" tIns="0" rIns="0" bIns="0" rtlCol="0" anchor="t"/>
          <a:lstStyle/>
          <a:p>
            <a:pPr algn="l" indent="0" marL="0">
              <a:lnSpc>
                <a:spcPts val="2700"/>
              </a:lnSpc>
              <a:buNone/>
            </a:pPr>
            <a:r>
              <a:rPr lang="en-US" sz="2150" b="1" dirty="0">
                <a:solidFill>
                  <a:srgbClr val="D7D4CC"/>
                </a:solidFill>
                <a:latin typeface="Comfortaa Bold" pitchFamily="34" charset="0"/>
                <a:ea typeface="Comfortaa Bold" pitchFamily="34" charset="-122"/>
                <a:cs typeface="Comfortaa Bold" pitchFamily="34" charset="-120"/>
              </a:rPr>
              <a:t>For Supporters</a:t>
            </a:r>
            <a:endParaRPr lang="en-US" sz="2150" dirty="0"/>
          </a:p>
        </p:txBody>
      </p:sp>
      <p:sp>
        <p:nvSpPr>
          <p:cNvPr id="17" name="Text 12"/>
          <p:cNvSpPr/>
          <p:nvPr/>
        </p:nvSpPr>
        <p:spPr>
          <a:xfrm>
            <a:off x="9876949" y="4456152"/>
            <a:ext cx="3642598" cy="1975247"/>
          </a:xfrm>
          <a:prstGeom prst="rect">
            <a:avLst/>
          </a:prstGeom>
          <a:noFill/>
          <a:ln/>
        </p:spPr>
        <p:txBody>
          <a:bodyPr wrap="square" lIns="0" tIns="0" rIns="0" bIns="0" rtlCol="0" anchor="t"/>
          <a:lstStyle/>
          <a:p>
            <a:pPr algn="l" indent="0" marL="0">
              <a:lnSpc>
                <a:spcPts val="3100"/>
              </a:lnSpc>
              <a:buNone/>
            </a:pPr>
            <a:r>
              <a:rPr lang="en-US" sz="1900" dirty="0">
                <a:solidFill>
                  <a:srgbClr val="D7D4CC"/>
                </a:solidFill>
                <a:latin typeface="Raleway Medium" pitchFamily="34" charset="0"/>
                <a:ea typeface="Raleway Medium" pitchFamily="34" charset="-122"/>
                <a:cs typeface="Raleway Medium" pitchFamily="34" charset="-120"/>
              </a:rPr>
              <a:t>Help us expand access and impact through donations, advocacy, and community partnerships. Together, we can transform lives.</a:t>
            </a:r>
            <a:endParaRPr lang="en-US" sz="1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30791"/>
          </a:xfrm>
          <a:prstGeom prst="rect">
            <a:avLst/>
          </a:prstGeom>
        </p:spPr>
      </p:pic>
      <p:sp>
        <p:nvSpPr>
          <p:cNvPr id="3" name="Text 0"/>
          <p:cNvSpPr/>
          <p:nvPr/>
        </p:nvSpPr>
        <p:spPr>
          <a:xfrm>
            <a:off x="800338" y="628769"/>
            <a:ext cx="7543324" cy="1905595"/>
          </a:xfrm>
          <a:prstGeom prst="rect">
            <a:avLst/>
          </a:prstGeom>
          <a:noFill/>
          <a:ln/>
        </p:spPr>
        <p:txBody>
          <a:bodyPr wrap="square" lIns="0" tIns="0" rIns="0" bIns="0" rtlCol="0" anchor="t"/>
          <a:lstStyle/>
          <a:p>
            <a:pPr algn="l" indent="0" marL="0">
              <a:lnSpc>
                <a:spcPts val="5000"/>
              </a:lnSpc>
              <a:buNone/>
            </a:pPr>
            <a:r>
              <a:rPr lang="en-US" sz="4000" b="1" dirty="0">
                <a:solidFill>
                  <a:srgbClr val="FFE14D"/>
                </a:solidFill>
                <a:latin typeface="Comfortaa Bold" pitchFamily="34" charset="0"/>
                <a:ea typeface="Comfortaa Bold" pitchFamily="34" charset="-122"/>
                <a:cs typeface="Comfortaa Bold" pitchFamily="34" charset="-120"/>
              </a:rPr>
              <a:t>Rise-up Learning Hub: Your Pathway to Growth and Opportunity</a:t>
            </a:r>
            <a:endParaRPr lang="en-US" sz="4000" dirty="0"/>
          </a:p>
        </p:txBody>
      </p:sp>
      <p:sp>
        <p:nvSpPr>
          <p:cNvPr id="4" name="Text 1"/>
          <p:cNvSpPr/>
          <p:nvPr/>
        </p:nvSpPr>
        <p:spPr>
          <a:xfrm>
            <a:off x="800338" y="2877264"/>
            <a:ext cx="7543324" cy="1270397"/>
          </a:xfrm>
          <a:prstGeom prst="rect">
            <a:avLst/>
          </a:prstGeom>
          <a:noFill/>
          <a:ln/>
        </p:spPr>
        <p:txBody>
          <a:bodyPr wrap="none" lIns="0" tIns="0" rIns="0" bIns="0" rtlCol="0" anchor="t"/>
          <a:lstStyle/>
          <a:p>
            <a:pPr algn="l" indent="0" marL="0">
              <a:lnSpc>
                <a:spcPts val="10000"/>
              </a:lnSpc>
              <a:buNone/>
            </a:pPr>
            <a:r>
              <a:rPr lang="en-US" sz="8000" b="1" dirty="0">
                <a:solidFill>
                  <a:srgbClr val="FFE14D"/>
                </a:solidFill>
                <a:latin typeface="Comfortaa Bold" pitchFamily="34" charset="0"/>
                <a:ea typeface="Comfortaa Bold" pitchFamily="34" charset="-122"/>
                <a:cs typeface="Comfortaa Bold" pitchFamily="34" charset="-120"/>
              </a:rPr>
              <a:t>Rise Up</a:t>
            </a:r>
            <a:endParaRPr lang="en-US" sz="8000" dirty="0"/>
          </a:p>
        </p:txBody>
      </p:sp>
      <p:sp>
        <p:nvSpPr>
          <p:cNvPr id="5" name="Text 2"/>
          <p:cNvSpPr/>
          <p:nvPr/>
        </p:nvSpPr>
        <p:spPr>
          <a:xfrm>
            <a:off x="800338" y="4490561"/>
            <a:ext cx="7543324" cy="731758"/>
          </a:xfrm>
          <a:prstGeom prst="rect">
            <a:avLst/>
          </a:prstGeom>
          <a:noFill/>
          <a:ln/>
        </p:spPr>
        <p:txBody>
          <a:bodyPr wrap="square" lIns="0" tIns="0" rIns="0" bIns="0" rtlCol="0" anchor="t"/>
          <a:lstStyle/>
          <a:p>
            <a:pPr algn="l" indent="0" marL="0">
              <a:lnSpc>
                <a:spcPts val="2850"/>
              </a:lnSpc>
              <a:buNone/>
            </a:pPr>
            <a:r>
              <a:rPr lang="en-US" sz="1800" dirty="0">
                <a:solidFill>
                  <a:srgbClr val="D7D4CC"/>
                </a:solidFill>
                <a:latin typeface="Raleway Medium" pitchFamily="34" charset="0"/>
                <a:ea typeface="Raleway Medium" pitchFamily="34" charset="-122"/>
                <a:cs typeface="Raleway Medium" pitchFamily="34" charset="-120"/>
              </a:rPr>
              <a:t>Empower yourself. Strengthen our community. Transform Tulsa's future.</a:t>
            </a:r>
            <a:endParaRPr lang="en-US" sz="1800" dirty="0"/>
          </a:p>
        </p:txBody>
      </p:sp>
      <p:sp>
        <p:nvSpPr>
          <p:cNvPr id="6" name="Shape 3"/>
          <p:cNvSpPr/>
          <p:nvPr/>
        </p:nvSpPr>
        <p:spPr>
          <a:xfrm>
            <a:off x="800338" y="5593814"/>
            <a:ext cx="7543324" cy="36195"/>
          </a:xfrm>
          <a:prstGeom prst="rect">
            <a:avLst/>
          </a:prstGeom>
          <a:solidFill>
            <a:srgbClr val="D7D4CC">
              <a:alpha val="50000"/>
            </a:srgbClr>
          </a:solidFill>
          <a:ln/>
        </p:spPr>
      </p:sp>
      <p:sp>
        <p:nvSpPr>
          <p:cNvPr id="7" name="Text 4"/>
          <p:cNvSpPr/>
          <p:nvPr/>
        </p:nvSpPr>
        <p:spPr>
          <a:xfrm>
            <a:off x="800338" y="6092904"/>
            <a:ext cx="3492698" cy="365879"/>
          </a:xfrm>
          <a:prstGeom prst="rect">
            <a:avLst/>
          </a:prstGeom>
          <a:noFill/>
          <a:ln/>
        </p:spPr>
        <p:txBody>
          <a:bodyPr wrap="none" lIns="0" tIns="0" rIns="0" bIns="0" rtlCol="0" anchor="t"/>
          <a:lstStyle/>
          <a:p>
            <a:pPr algn="l" indent="0" marL="0">
              <a:lnSpc>
                <a:spcPts val="2850"/>
              </a:lnSpc>
              <a:buNone/>
            </a:pPr>
            <a:r>
              <a:rPr lang="en-US" sz="1800" b="1" dirty="0">
                <a:solidFill>
                  <a:srgbClr val="D7D4CC"/>
                </a:solidFill>
                <a:latin typeface="Raleway Medium" pitchFamily="34" charset="0"/>
                <a:ea typeface="Raleway Medium" pitchFamily="34" charset="-122"/>
                <a:cs typeface="Raleway Medium" pitchFamily="34" charset="-120"/>
              </a:rPr>
              <a:t>Visit:</a:t>
            </a:r>
            <a:pPr algn="l" indent="0" marL="0">
              <a:lnSpc>
                <a:spcPts val="2850"/>
              </a:lnSpc>
              <a:buNone/>
            </a:pPr>
            <a:r>
              <a:rPr lang="en-US" sz="1800" dirty="0">
                <a:solidFill>
                  <a:srgbClr val="D7D4CC"/>
                </a:solidFill>
                <a:latin typeface="Raleway Medium" pitchFamily="34" charset="0"/>
                <a:ea typeface="Raleway Medium" pitchFamily="34" charset="-122"/>
                <a:cs typeface="Raleway Medium" pitchFamily="34" charset="-120"/>
              </a:rPr>
              <a:t> riseuplearninghub.org</a:t>
            </a:r>
            <a:endParaRPr lang="en-US" sz="1800" dirty="0"/>
          </a:p>
        </p:txBody>
      </p:sp>
      <p:sp>
        <p:nvSpPr>
          <p:cNvPr id="8" name="Text 5"/>
          <p:cNvSpPr/>
          <p:nvPr/>
        </p:nvSpPr>
        <p:spPr>
          <a:xfrm>
            <a:off x="800338" y="6664523"/>
            <a:ext cx="3492698" cy="365879"/>
          </a:xfrm>
          <a:prstGeom prst="rect">
            <a:avLst/>
          </a:prstGeom>
          <a:noFill/>
          <a:ln/>
        </p:spPr>
        <p:txBody>
          <a:bodyPr wrap="none" lIns="0" tIns="0" rIns="0" bIns="0" rtlCol="0" anchor="t"/>
          <a:lstStyle/>
          <a:p>
            <a:pPr algn="l" indent="0" marL="0">
              <a:lnSpc>
                <a:spcPts val="2850"/>
              </a:lnSpc>
              <a:buNone/>
            </a:pPr>
            <a:r>
              <a:rPr lang="en-US" sz="1800" b="1" dirty="0">
                <a:solidFill>
                  <a:srgbClr val="D7D4CC"/>
                </a:solidFill>
                <a:latin typeface="Raleway Medium" pitchFamily="34" charset="0"/>
                <a:ea typeface="Raleway Medium" pitchFamily="34" charset="-122"/>
                <a:cs typeface="Raleway Medium" pitchFamily="34" charset="-120"/>
              </a:rPr>
              <a:t>Call:</a:t>
            </a:r>
            <a:pPr algn="l" indent="0" marL="0">
              <a:lnSpc>
                <a:spcPts val="2850"/>
              </a:lnSpc>
              <a:buNone/>
            </a:pPr>
            <a:r>
              <a:rPr lang="en-US" sz="1800" dirty="0">
                <a:solidFill>
                  <a:srgbClr val="D7D4CC"/>
                </a:solidFill>
                <a:latin typeface="Raleway Medium" pitchFamily="34" charset="0"/>
                <a:ea typeface="Raleway Medium" pitchFamily="34" charset="-122"/>
                <a:cs typeface="Raleway Medium" pitchFamily="34" charset="-120"/>
              </a:rPr>
              <a:t> (555) 123-4567</a:t>
            </a:r>
            <a:endParaRPr lang="en-US" sz="1800" dirty="0"/>
          </a:p>
        </p:txBody>
      </p:sp>
      <p:sp>
        <p:nvSpPr>
          <p:cNvPr id="9" name="Text 6"/>
          <p:cNvSpPr/>
          <p:nvPr/>
        </p:nvSpPr>
        <p:spPr>
          <a:xfrm>
            <a:off x="4858583" y="6092904"/>
            <a:ext cx="3492698" cy="365879"/>
          </a:xfrm>
          <a:prstGeom prst="rect">
            <a:avLst/>
          </a:prstGeom>
          <a:noFill/>
          <a:ln/>
        </p:spPr>
        <p:txBody>
          <a:bodyPr wrap="none" lIns="0" tIns="0" rIns="0" bIns="0" rtlCol="0" anchor="t"/>
          <a:lstStyle/>
          <a:p>
            <a:pPr algn="l" indent="0" marL="0">
              <a:lnSpc>
                <a:spcPts val="2850"/>
              </a:lnSpc>
              <a:buNone/>
            </a:pPr>
            <a:r>
              <a:rPr lang="en-US" sz="1800" b="1" dirty="0">
                <a:solidFill>
                  <a:srgbClr val="D7D4CC"/>
                </a:solidFill>
                <a:latin typeface="Raleway Medium" pitchFamily="34" charset="0"/>
                <a:ea typeface="Raleway Medium" pitchFamily="34" charset="-122"/>
                <a:cs typeface="Raleway Medium" pitchFamily="34" charset="-120"/>
              </a:rPr>
              <a:t>Follow us:</a:t>
            </a:r>
            <a:pPr algn="l" indent="0" marL="0">
              <a:lnSpc>
                <a:spcPts val="2850"/>
              </a:lnSpc>
              <a:buNone/>
            </a:pPr>
            <a:r>
              <a:rPr lang="en-US" sz="1800" dirty="0">
                <a:solidFill>
                  <a:srgbClr val="D7D4CC"/>
                </a:solidFill>
                <a:latin typeface="Raleway Medium" pitchFamily="34" charset="0"/>
                <a:ea typeface="Raleway Medium" pitchFamily="34" charset="-122"/>
                <a:cs typeface="Raleway Medium" pitchFamily="34" charset="-120"/>
              </a:rPr>
              <a:t> @RiseUpTulsa</a:t>
            </a:r>
            <a:endParaRPr lang="en-US" sz="1800" dirty="0"/>
          </a:p>
        </p:txBody>
      </p:sp>
      <p:sp>
        <p:nvSpPr>
          <p:cNvPr id="10" name="Text 7"/>
          <p:cNvSpPr/>
          <p:nvPr/>
        </p:nvSpPr>
        <p:spPr>
          <a:xfrm>
            <a:off x="4858583" y="6664523"/>
            <a:ext cx="3492698" cy="731758"/>
          </a:xfrm>
          <a:prstGeom prst="rect">
            <a:avLst/>
          </a:prstGeom>
          <a:noFill/>
          <a:ln/>
        </p:spPr>
        <p:txBody>
          <a:bodyPr wrap="square" lIns="0" tIns="0" rIns="0" bIns="0" rtlCol="0" anchor="t"/>
          <a:lstStyle/>
          <a:p>
            <a:pPr algn="l" indent="0" marL="0">
              <a:lnSpc>
                <a:spcPts val="2850"/>
              </a:lnSpc>
              <a:buNone/>
            </a:pPr>
            <a:r>
              <a:rPr lang="en-US" sz="1800" b="1" dirty="0">
                <a:solidFill>
                  <a:srgbClr val="D7D4CC"/>
                </a:solidFill>
                <a:latin typeface="Raleway Medium" pitchFamily="34" charset="0"/>
                <a:ea typeface="Raleway Medium" pitchFamily="34" charset="-122"/>
                <a:cs typeface="Raleway Medium" pitchFamily="34" charset="-120"/>
              </a:rPr>
              <a:t>Email:</a:t>
            </a:r>
            <a:pPr algn="l" indent="0" marL="0">
              <a:lnSpc>
                <a:spcPts val="2850"/>
              </a:lnSpc>
              <a:buNone/>
            </a:pPr>
            <a:r>
              <a:rPr lang="en-US" sz="1800" dirty="0">
                <a:solidFill>
                  <a:srgbClr val="D7D4CC"/>
                </a:solidFill>
                <a:latin typeface="Raleway Medium" pitchFamily="34" charset="0"/>
                <a:ea typeface="Raleway Medium" pitchFamily="34" charset="-122"/>
                <a:cs typeface="Raleway Medium" pitchFamily="34" charset="-120"/>
              </a:rPr>
              <a:t> info@riseuplearninghub.org</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2025-09-27T23:49:32Z</dcterms:created>
  <dcterms:modified xsi:type="dcterms:W3CDTF">2025-09-27T23:49:32Z</dcterms:modified>
</cp:coreProperties>
</file>