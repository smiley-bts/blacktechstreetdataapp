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e Vietnam" charset="1" panose="00000500000000000000"/>
      <p:regular r:id="rId20"/>
    </p:embeddedFont>
    <p:embeddedFont>
      <p:font typeface="Roca Two Bold" charset="1" panose="00000800000000000000"/>
      <p:regular r:id="rId21"/>
    </p:embeddedFont>
    <p:embeddedFont>
      <p:font typeface="TT Interphases Bold" charset="1" panose="02000803060000020004"/>
      <p:regular r:id="rId22"/>
    </p:embeddedFont>
    <p:embeddedFont>
      <p:font typeface="Roca Two" charset="1" panose="00000500000000000000"/>
      <p:regular r:id="rId23"/>
    </p:embeddedFont>
    <p:embeddedFont>
      <p:font typeface="TT Interphases" charset="1" panose="02000503020000020004"/>
      <p:regular r:id="rId24"/>
    </p:embeddedFont>
    <p:embeddedFont>
      <p:font typeface="Cooper BT Light" charset="1" panose="0208050304030B020404"/>
      <p:regular r:id="rId25"/>
    </p:embeddedFont>
    <p:embeddedFont>
      <p:font typeface="Proxima Nova Condensed Bold" charset="1" panose="02000506030000020004"/>
      <p:regular r:id="rId26"/>
    </p:embeddedFont>
    <p:embeddedFont>
      <p:font typeface="Work Sans Semi-Bold" charset="1" panose="00000000000000000000"/>
      <p:regular r:id="rId27"/>
    </p:embeddedFont>
    <p:embeddedFont>
      <p:font typeface="Touvlo" charset="1" panose="020B0604030403020204"/>
      <p:regular r:id="rId28"/>
    </p:embeddedFont>
    <p:embeddedFont>
      <p:font typeface="Touvlo Bold" charset="1" panose="020B0804030403020204"/>
      <p:regular r:id="rId29"/>
    </p:embeddedFont>
    <p:embeddedFont>
      <p:font typeface="Cooper BT Medium" charset="1" panose="0208060305030B020404"/>
      <p:regular r:id="rId30"/>
    </p:embeddedFont>
    <p:embeddedFont>
      <p:font typeface="Work Sans" charset="1" panose="00000000000000000000"/>
      <p:regular r:id="rId31"/>
    </p:embeddedFont>
    <p:embeddedFont>
      <p:font typeface="Work Sans Bold" charset="1" panose="00000000000000000000"/>
      <p:regular r:id="rId32"/>
    </p:embeddedFont>
    <p:embeddedFont>
      <p:font typeface="Be Vietnam Ultra-Bold" charset="1" panose="00000900000000000000"/>
      <p:regular r:id="rId33"/>
    </p:embeddedFont>
    <p:embeddedFont>
      <p:font typeface="Telegraf Bold" charset="1" panose="000008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429875" y="666750"/>
            <a:ext cx="7191375" cy="8953500"/>
            <a:chOff x="0" y="0"/>
            <a:chExt cx="1274296" cy="1586541"/>
          </a:xfrm>
        </p:grpSpPr>
        <p:sp>
          <p:nvSpPr>
            <p:cNvPr name="Freeform 3" id="3"/>
            <p:cNvSpPr/>
            <p:nvPr/>
          </p:nvSpPr>
          <p:spPr>
            <a:xfrm flipH="false" flipV="false" rot="0">
              <a:off x="0" y="0"/>
              <a:ext cx="1274296" cy="1586541"/>
            </a:xfrm>
            <a:custGeom>
              <a:avLst/>
              <a:gdLst/>
              <a:ahLst/>
              <a:cxnLst/>
              <a:rect r="r" b="b" t="t" l="l"/>
              <a:pathLst>
                <a:path h="1586541" w="1274296">
                  <a:moveTo>
                    <a:pt x="29067" y="0"/>
                  </a:moveTo>
                  <a:lnTo>
                    <a:pt x="1245229" y="0"/>
                  </a:lnTo>
                  <a:cubicBezTo>
                    <a:pt x="1261283" y="0"/>
                    <a:pt x="1274296" y="13014"/>
                    <a:pt x="1274296" y="29067"/>
                  </a:cubicBezTo>
                  <a:lnTo>
                    <a:pt x="1274296" y="1557474"/>
                  </a:lnTo>
                  <a:cubicBezTo>
                    <a:pt x="1274296" y="1565183"/>
                    <a:pt x="1271234" y="1572576"/>
                    <a:pt x="1265783" y="1578028"/>
                  </a:cubicBezTo>
                  <a:cubicBezTo>
                    <a:pt x="1260332" y="1583479"/>
                    <a:pt x="1252938" y="1586541"/>
                    <a:pt x="1245229" y="1586541"/>
                  </a:cubicBezTo>
                  <a:lnTo>
                    <a:pt x="29067" y="1586541"/>
                  </a:lnTo>
                  <a:cubicBezTo>
                    <a:pt x="21358" y="1586541"/>
                    <a:pt x="13965" y="1583479"/>
                    <a:pt x="8514" y="1578028"/>
                  </a:cubicBezTo>
                  <a:cubicBezTo>
                    <a:pt x="3062" y="1572576"/>
                    <a:pt x="0" y="1565183"/>
                    <a:pt x="0" y="1557474"/>
                  </a:cubicBezTo>
                  <a:lnTo>
                    <a:pt x="0" y="29067"/>
                  </a:lnTo>
                  <a:cubicBezTo>
                    <a:pt x="0" y="21358"/>
                    <a:pt x="3062" y="13965"/>
                    <a:pt x="8514" y="8514"/>
                  </a:cubicBezTo>
                  <a:cubicBezTo>
                    <a:pt x="13965" y="3062"/>
                    <a:pt x="21358" y="0"/>
                    <a:pt x="29067" y="0"/>
                  </a:cubicBezTo>
                  <a:close/>
                </a:path>
              </a:pathLst>
            </a:custGeom>
            <a:blipFill>
              <a:blip r:embed="rId2"/>
              <a:stretch>
                <a:fillRect l="0" t="-199" r="0" b="-199"/>
              </a:stretch>
            </a:blipFill>
          </p:spPr>
        </p:sp>
      </p:grpSp>
      <p:sp>
        <p:nvSpPr>
          <p:cNvPr name="TextBox 4" id="4"/>
          <p:cNvSpPr txBox="true"/>
          <p:nvPr/>
        </p:nvSpPr>
        <p:spPr>
          <a:xfrm rot="0">
            <a:off x="-582580" y="9138920"/>
            <a:ext cx="12002884" cy="481330"/>
          </a:xfrm>
          <a:prstGeom prst="rect">
            <a:avLst/>
          </a:prstGeom>
        </p:spPr>
        <p:txBody>
          <a:bodyPr anchor="t" rtlCol="false" tIns="0" lIns="0" bIns="0" rIns="0">
            <a:spAutoFit/>
          </a:bodyPr>
          <a:lstStyle/>
          <a:p>
            <a:pPr algn="ctr" marL="0" indent="0" lvl="0">
              <a:lnSpc>
                <a:spcPts val="3919"/>
              </a:lnSpc>
              <a:spcBef>
                <a:spcPct val="0"/>
              </a:spcBef>
            </a:pPr>
            <a:r>
              <a:rPr lang="en-US" sz="2799" spc="55">
                <a:solidFill>
                  <a:srgbClr val="FFFFFF"/>
                </a:solidFill>
                <a:latin typeface="Be Vietnam"/>
                <a:ea typeface="Be Vietnam"/>
                <a:cs typeface="Be Vietnam"/>
                <a:sym typeface="Be Vietnam"/>
              </a:rPr>
              <a:t>PRESENTED BY: LATOYA LARKIN &amp; JASON PARKER</a:t>
            </a:r>
          </a:p>
        </p:txBody>
      </p:sp>
      <p:sp>
        <p:nvSpPr>
          <p:cNvPr name="TextBox 5" id="5"/>
          <p:cNvSpPr txBox="true"/>
          <p:nvPr/>
        </p:nvSpPr>
        <p:spPr>
          <a:xfrm rot="0">
            <a:off x="666750" y="619125"/>
            <a:ext cx="8324850" cy="471727"/>
          </a:xfrm>
          <a:prstGeom prst="rect">
            <a:avLst/>
          </a:prstGeom>
        </p:spPr>
        <p:txBody>
          <a:bodyPr anchor="t" rtlCol="false" tIns="0" lIns="0" bIns="0" rIns="0">
            <a:spAutoFit/>
          </a:bodyPr>
          <a:lstStyle/>
          <a:p>
            <a:pPr algn="ctr" marL="0" indent="0" lvl="0">
              <a:lnSpc>
                <a:spcPts val="3924"/>
              </a:lnSpc>
              <a:spcBef>
                <a:spcPct val="0"/>
              </a:spcBef>
            </a:pPr>
            <a:r>
              <a:rPr lang="en-US" b="true" sz="2803">
                <a:solidFill>
                  <a:srgbClr val="FFFFFF"/>
                </a:solidFill>
                <a:latin typeface="Roca Two Bold"/>
                <a:ea typeface="Roca Two Bold"/>
                <a:cs typeface="Roca Two Bold"/>
                <a:sym typeface="Roca Two Bold"/>
              </a:rPr>
              <a:t>MVP BRIEF</a:t>
            </a:r>
          </a:p>
        </p:txBody>
      </p:sp>
      <p:grpSp>
        <p:nvGrpSpPr>
          <p:cNvPr name="Group 6" id="6"/>
          <p:cNvGrpSpPr/>
          <p:nvPr/>
        </p:nvGrpSpPr>
        <p:grpSpPr>
          <a:xfrm rot="0">
            <a:off x="3898731" y="6577295"/>
            <a:ext cx="1860888" cy="533786"/>
            <a:chOff x="0" y="0"/>
            <a:chExt cx="2481183" cy="711714"/>
          </a:xfrm>
        </p:grpSpPr>
        <p:sp>
          <p:nvSpPr>
            <p:cNvPr name="Freeform 7" id="7"/>
            <p:cNvSpPr/>
            <p:nvPr/>
          </p:nvSpPr>
          <p:spPr>
            <a:xfrm flipH="false" flipV="false" rot="0">
              <a:off x="0" y="0"/>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84771" y="0"/>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773351" y="0"/>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0" id="10"/>
          <p:cNvGrpSpPr/>
          <p:nvPr/>
        </p:nvGrpSpPr>
        <p:grpSpPr>
          <a:xfrm rot="0">
            <a:off x="1028700" y="1465155"/>
            <a:ext cx="8780324" cy="4737838"/>
            <a:chOff x="0" y="0"/>
            <a:chExt cx="1590655" cy="858313"/>
          </a:xfrm>
        </p:grpSpPr>
        <p:sp>
          <p:nvSpPr>
            <p:cNvPr name="Freeform 11" id="11"/>
            <p:cNvSpPr/>
            <p:nvPr/>
          </p:nvSpPr>
          <p:spPr>
            <a:xfrm flipH="false" flipV="false" rot="0">
              <a:off x="0" y="0"/>
              <a:ext cx="1590655" cy="858313"/>
            </a:xfrm>
            <a:custGeom>
              <a:avLst/>
              <a:gdLst/>
              <a:ahLst/>
              <a:cxnLst/>
              <a:rect r="r" b="b" t="t" l="l"/>
              <a:pathLst>
                <a:path h="858313" w="1590655">
                  <a:moveTo>
                    <a:pt x="0" y="0"/>
                  </a:moveTo>
                  <a:lnTo>
                    <a:pt x="1590655" y="0"/>
                  </a:lnTo>
                  <a:lnTo>
                    <a:pt x="1590655" y="858313"/>
                  </a:lnTo>
                  <a:lnTo>
                    <a:pt x="0" y="858313"/>
                  </a:lnTo>
                  <a:close/>
                </a:path>
              </a:pathLst>
            </a:custGeom>
            <a:blipFill>
              <a:blip r:embed="rId5"/>
              <a:stretch>
                <a:fillRect l="-4920" t="0" r="-4920" b="0"/>
              </a:stretch>
            </a:blipFill>
          </p:spPr>
        </p:sp>
      </p:grpSp>
      <p:grpSp>
        <p:nvGrpSpPr>
          <p:cNvPr name="Group 12" id="12"/>
          <p:cNvGrpSpPr/>
          <p:nvPr/>
        </p:nvGrpSpPr>
        <p:grpSpPr>
          <a:xfrm rot="0">
            <a:off x="1597194" y="4515764"/>
            <a:ext cx="8324850" cy="1255395"/>
            <a:chOff x="0" y="0"/>
            <a:chExt cx="11099800" cy="1673860"/>
          </a:xfrm>
        </p:grpSpPr>
        <p:sp>
          <p:nvSpPr>
            <p:cNvPr name="TextBox 13" id="13"/>
            <p:cNvSpPr txBox="true"/>
            <p:nvPr/>
          </p:nvSpPr>
          <p:spPr>
            <a:xfrm rot="0">
              <a:off x="0" y="1155700"/>
              <a:ext cx="11099800" cy="518160"/>
            </a:xfrm>
            <a:prstGeom prst="rect">
              <a:avLst/>
            </a:prstGeom>
          </p:spPr>
          <p:txBody>
            <a:bodyPr anchor="t" rtlCol="false" tIns="0" lIns="0" bIns="0" rIns="0">
              <a:spAutoFit/>
            </a:bodyPr>
            <a:lstStyle/>
            <a:p>
              <a:pPr algn="l" marL="0" indent="0" lvl="0">
                <a:lnSpc>
                  <a:spcPts val="3120"/>
                </a:lnSpc>
                <a:spcBef>
                  <a:spcPct val="0"/>
                </a:spcBef>
              </a:pPr>
            </a:p>
          </p:txBody>
        </p:sp>
        <p:sp>
          <p:nvSpPr>
            <p:cNvPr name="TextBox 14" id="14"/>
            <p:cNvSpPr txBox="true"/>
            <p:nvPr/>
          </p:nvSpPr>
          <p:spPr>
            <a:xfrm rot="0">
              <a:off x="0" y="-38100"/>
              <a:ext cx="110998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001C43"/>
                  </a:solidFill>
                  <a:latin typeface="TT Interphases Bold"/>
                  <a:ea typeface="TT Interphases Bold"/>
                  <a:cs typeface="TT Interphases Bold"/>
                  <a:sym typeface="TT Interphases Bold"/>
                </a:rPr>
                <a:t>Turning Culinary Passion into Profit Through Cost Clarity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1083574" cy="1822834"/>
          </a:xfrm>
        </p:grpSpPr>
        <p:sp>
          <p:nvSpPr>
            <p:cNvPr name="Freeform 3" id="3"/>
            <p:cNvSpPr/>
            <p:nvPr/>
          </p:nvSpPr>
          <p:spPr>
            <a:xfrm flipH="false" flipV="false" rot="0">
              <a:off x="0" y="0"/>
              <a:ext cx="1083574" cy="1822834"/>
            </a:xfrm>
            <a:custGeom>
              <a:avLst/>
              <a:gdLst/>
              <a:ahLst/>
              <a:cxnLst/>
              <a:rect r="r" b="b" t="t" l="l"/>
              <a:pathLst>
                <a:path h="1822834" w="1083574">
                  <a:moveTo>
                    <a:pt x="0" y="0"/>
                  </a:moveTo>
                  <a:lnTo>
                    <a:pt x="1083574" y="0"/>
                  </a:lnTo>
                  <a:lnTo>
                    <a:pt x="1083574" y="1822834"/>
                  </a:lnTo>
                  <a:lnTo>
                    <a:pt x="0" y="1822834"/>
                  </a:lnTo>
                  <a:close/>
                </a:path>
              </a:pathLst>
            </a:custGeom>
            <a:solidFill>
              <a:srgbClr val="000000">
                <a:alpha val="0"/>
              </a:srgbClr>
            </a:solidFill>
            <a:ln w="12700">
              <a:solidFill>
                <a:srgbClr val="000000"/>
              </a:solidFill>
            </a:ln>
          </p:spPr>
        </p:sp>
      </p:grpSp>
      <p:sp>
        <p:nvSpPr>
          <p:cNvPr name="TextBox 4" id="4"/>
          <p:cNvSpPr txBox="true"/>
          <p:nvPr/>
        </p:nvSpPr>
        <p:spPr>
          <a:xfrm rot="0">
            <a:off x="1028700" y="1644005"/>
            <a:ext cx="9763125" cy="1190625"/>
          </a:xfrm>
          <a:prstGeom prst="rect">
            <a:avLst/>
          </a:prstGeom>
        </p:spPr>
        <p:txBody>
          <a:bodyPr anchor="t" rtlCol="false" tIns="0" lIns="0" bIns="0" rIns="0">
            <a:spAutoFit/>
          </a:bodyPr>
          <a:lstStyle/>
          <a:p>
            <a:pPr algn="l" marL="0" indent="0" lvl="0">
              <a:lnSpc>
                <a:spcPts val="9434"/>
              </a:lnSpc>
            </a:pPr>
            <a:r>
              <a:rPr lang="en-US" sz="7862">
                <a:solidFill>
                  <a:srgbClr val="FFC700"/>
                </a:solidFill>
                <a:latin typeface="Roca Two"/>
                <a:ea typeface="Roca Two"/>
                <a:cs typeface="Roca Two"/>
                <a:sym typeface="Roca Two"/>
              </a:rPr>
              <a:t>Vision</a:t>
            </a:r>
          </a:p>
        </p:txBody>
      </p:sp>
      <p:sp>
        <p:nvSpPr>
          <p:cNvPr name="TextBox 5" id="5"/>
          <p:cNvSpPr txBox="true"/>
          <p:nvPr/>
        </p:nvSpPr>
        <p:spPr>
          <a:xfrm rot="0">
            <a:off x="1028700" y="3264493"/>
            <a:ext cx="10000494" cy="4343869"/>
          </a:xfrm>
          <a:prstGeom prst="rect">
            <a:avLst/>
          </a:prstGeom>
        </p:spPr>
        <p:txBody>
          <a:bodyPr anchor="t" rtlCol="false" tIns="0" lIns="0" bIns="0" rIns="0">
            <a:spAutoFit/>
          </a:bodyPr>
          <a:lstStyle/>
          <a:p>
            <a:pPr algn="l" marL="0" indent="0" lvl="0">
              <a:lnSpc>
                <a:spcPts val="4964"/>
              </a:lnSpc>
            </a:pPr>
            <a:r>
              <a:rPr lang="en-US" sz="3545" spc="70">
                <a:solidFill>
                  <a:srgbClr val="FFFFFF"/>
                </a:solidFill>
                <a:latin typeface="Be Vietnam"/>
                <a:ea typeface="Be Vietnam"/>
                <a:cs typeface="Be Vietnam"/>
                <a:sym typeface="Be Vietnam"/>
              </a:rPr>
              <a:t>Our vision is to empower small food founders with financial clarity and control, democratizing access to culinary financial insights, and foster a thriving food entrepreneurship community to confidently navigate their culinary journeys.</a:t>
            </a:r>
          </a:p>
          <a:p>
            <a:pPr algn="l" marL="0" indent="0" lvl="0">
              <a:lnSpc>
                <a:spcPts val="4964"/>
              </a:lnSpc>
            </a:pPr>
          </a:p>
        </p:txBody>
      </p:sp>
      <p:grpSp>
        <p:nvGrpSpPr>
          <p:cNvPr name="Group 6" id="6"/>
          <p:cNvGrpSpPr/>
          <p:nvPr/>
        </p:nvGrpSpPr>
        <p:grpSpPr>
          <a:xfrm rot="0">
            <a:off x="11682039" y="0"/>
            <a:ext cx="6605961" cy="10287000"/>
            <a:chOff x="0" y="0"/>
            <a:chExt cx="3131001" cy="4875688"/>
          </a:xfrm>
        </p:grpSpPr>
        <p:sp>
          <p:nvSpPr>
            <p:cNvPr name="Freeform 7" id="7"/>
            <p:cNvSpPr/>
            <p:nvPr/>
          </p:nvSpPr>
          <p:spPr>
            <a:xfrm flipH="false" flipV="false" rot="0">
              <a:off x="54483" y="50038"/>
              <a:ext cx="3021908" cy="4776247"/>
            </a:xfrm>
            <a:custGeom>
              <a:avLst/>
              <a:gdLst/>
              <a:ahLst/>
              <a:cxnLst/>
              <a:rect r="r" b="b" t="t" l="l"/>
              <a:pathLst>
                <a:path h="4776247" w="3021908">
                  <a:moveTo>
                    <a:pt x="2934278" y="4776247"/>
                  </a:moveTo>
                  <a:lnTo>
                    <a:pt x="87757" y="4776247"/>
                  </a:lnTo>
                  <a:cubicBezTo>
                    <a:pt x="39370" y="4776247"/>
                    <a:pt x="0" y="4737004"/>
                    <a:pt x="0" y="4688490"/>
                  </a:cubicBezTo>
                  <a:lnTo>
                    <a:pt x="0" y="87757"/>
                  </a:lnTo>
                  <a:cubicBezTo>
                    <a:pt x="0" y="39370"/>
                    <a:pt x="39243" y="0"/>
                    <a:pt x="87757" y="0"/>
                  </a:cubicBezTo>
                  <a:lnTo>
                    <a:pt x="2934151" y="0"/>
                  </a:lnTo>
                  <a:cubicBezTo>
                    <a:pt x="2982538" y="0"/>
                    <a:pt x="3021908" y="39243"/>
                    <a:pt x="3021908" y="87757"/>
                  </a:cubicBezTo>
                  <a:lnTo>
                    <a:pt x="3021908" y="4688490"/>
                  </a:lnTo>
                  <a:cubicBezTo>
                    <a:pt x="3021908" y="4736877"/>
                    <a:pt x="2982665" y="4776247"/>
                    <a:pt x="2934151" y="4776247"/>
                  </a:cubicBezTo>
                  <a:close/>
                </a:path>
              </a:pathLst>
            </a:custGeom>
            <a:blipFill>
              <a:blip r:embed="rId2"/>
              <a:stretch>
                <a:fillRect l="-24592" t="-1047" r="-25109" b="-1347"/>
              </a:stretch>
            </a:blipFill>
          </p:spPr>
        </p:sp>
        <p:sp>
          <p:nvSpPr>
            <p:cNvPr name="Freeform 8" id="8"/>
            <p:cNvSpPr/>
            <p:nvPr/>
          </p:nvSpPr>
          <p:spPr>
            <a:xfrm flipH="false" flipV="false" rot="0">
              <a:off x="0" y="0"/>
              <a:ext cx="3130874" cy="4875561"/>
            </a:xfrm>
            <a:custGeom>
              <a:avLst/>
              <a:gdLst/>
              <a:ahLst/>
              <a:cxnLst/>
              <a:rect r="r" b="b" t="t" l="l"/>
              <a:pathLst>
                <a:path h="4875561" w="3130874">
                  <a:moveTo>
                    <a:pt x="0" y="91567"/>
                  </a:moveTo>
                  <a:lnTo>
                    <a:pt x="0" y="4783994"/>
                  </a:lnTo>
                  <a:cubicBezTo>
                    <a:pt x="0" y="4834540"/>
                    <a:pt x="41021" y="4875561"/>
                    <a:pt x="91567" y="4875561"/>
                  </a:cubicBezTo>
                  <a:lnTo>
                    <a:pt x="3039307" y="4875561"/>
                  </a:lnTo>
                  <a:cubicBezTo>
                    <a:pt x="3089853" y="4875561"/>
                    <a:pt x="3130874" y="4834540"/>
                    <a:pt x="3130874" y="4783994"/>
                  </a:cubicBezTo>
                  <a:lnTo>
                    <a:pt x="3130874" y="91567"/>
                  </a:lnTo>
                  <a:cubicBezTo>
                    <a:pt x="3130874" y="41021"/>
                    <a:pt x="3089853" y="0"/>
                    <a:pt x="3039307" y="0"/>
                  </a:cubicBezTo>
                  <a:lnTo>
                    <a:pt x="91567" y="0"/>
                  </a:lnTo>
                  <a:cubicBezTo>
                    <a:pt x="41021" y="0"/>
                    <a:pt x="0" y="41021"/>
                    <a:pt x="0" y="91567"/>
                  </a:cubicBezTo>
                  <a:close/>
                  <a:moveTo>
                    <a:pt x="2289118" y="331724"/>
                  </a:moveTo>
                  <a:lnTo>
                    <a:pt x="2948248" y="331724"/>
                  </a:lnTo>
                  <a:cubicBezTo>
                    <a:pt x="2998794" y="331724"/>
                    <a:pt x="3039815" y="372745"/>
                    <a:pt x="3039815" y="423291"/>
                  </a:cubicBezTo>
                  <a:lnTo>
                    <a:pt x="3039815" y="4692935"/>
                  </a:lnTo>
                  <a:cubicBezTo>
                    <a:pt x="3039815" y="4743481"/>
                    <a:pt x="2998794" y="4784502"/>
                    <a:pt x="2948248" y="4784502"/>
                  </a:cubicBezTo>
                  <a:lnTo>
                    <a:pt x="182753" y="4784502"/>
                  </a:lnTo>
                  <a:cubicBezTo>
                    <a:pt x="132207" y="4784502"/>
                    <a:pt x="91186" y="4743481"/>
                    <a:pt x="91186" y="4692935"/>
                  </a:cubicBezTo>
                  <a:lnTo>
                    <a:pt x="91186" y="182753"/>
                  </a:lnTo>
                  <a:cubicBezTo>
                    <a:pt x="91186" y="132207"/>
                    <a:pt x="132207" y="91186"/>
                    <a:pt x="182753" y="91186"/>
                  </a:cubicBezTo>
                  <a:lnTo>
                    <a:pt x="1992065" y="91186"/>
                  </a:lnTo>
                  <a:cubicBezTo>
                    <a:pt x="2018100" y="91186"/>
                    <a:pt x="2042992" y="102235"/>
                    <a:pt x="2060391" y="121666"/>
                  </a:cubicBezTo>
                  <a:lnTo>
                    <a:pt x="2221046" y="301244"/>
                  </a:lnTo>
                  <a:cubicBezTo>
                    <a:pt x="2238445" y="320675"/>
                    <a:pt x="2263210" y="331724"/>
                    <a:pt x="2289372" y="331724"/>
                  </a:cubicBezTo>
                  <a:lnTo>
                    <a:pt x="2289118" y="331724"/>
                  </a:lnTo>
                  <a:close/>
                </a:path>
              </a:pathLst>
            </a:custGeom>
            <a:solidFill>
              <a:srgbClr val="FFD300"/>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D300"/>
        </a:solidFill>
      </p:bgPr>
    </p:bg>
    <p:spTree>
      <p:nvGrpSpPr>
        <p:cNvPr id="1" name=""/>
        <p:cNvGrpSpPr/>
        <p:nvPr/>
      </p:nvGrpSpPr>
      <p:grpSpPr>
        <a:xfrm>
          <a:off x="0" y="0"/>
          <a:ext cx="0" cy="0"/>
          <a:chOff x="0" y="0"/>
          <a:chExt cx="0" cy="0"/>
        </a:xfrm>
      </p:grpSpPr>
      <p:grpSp>
        <p:nvGrpSpPr>
          <p:cNvPr name="Group 2" id="2"/>
          <p:cNvGrpSpPr/>
          <p:nvPr/>
        </p:nvGrpSpPr>
        <p:grpSpPr>
          <a:xfrm rot="0">
            <a:off x="8652456" y="3471613"/>
            <a:ext cx="9300639" cy="6596037"/>
            <a:chOff x="0" y="0"/>
            <a:chExt cx="12400851" cy="8794717"/>
          </a:xfrm>
        </p:grpSpPr>
        <p:sp>
          <p:nvSpPr>
            <p:cNvPr name="TextBox 3" id="3"/>
            <p:cNvSpPr txBox="true"/>
            <p:nvPr/>
          </p:nvSpPr>
          <p:spPr>
            <a:xfrm rot="0">
              <a:off x="0" y="5306345"/>
              <a:ext cx="12400851" cy="3488371"/>
            </a:xfrm>
            <a:prstGeom prst="rect">
              <a:avLst/>
            </a:prstGeom>
          </p:spPr>
          <p:txBody>
            <a:bodyPr anchor="t" rtlCol="false" tIns="0" lIns="0" bIns="0" rIns="0">
              <a:spAutoFit/>
            </a:bodyPr>
            <a:lstStyle/>
            <a:p>
              <a:pPr algn="l" marL="0" indent="0" lvl="0">
                <a:lnSpc>
                  <a:spcPts val="3485"/>
                </a:lnSpc>
                <a:spcBef>
                  <a:spcPct val="0"/>
                </a:spcBef>
              </a:pPr>
              <a:r>
                <a:rPr lang="en-US" b="true" sz="2681" spc="-53">
                  <a:solidFill>
                    <a:srgbClr val="000000"/>
                  </a:solidFill>
                  <a:latin typeface="TT Interphases Bold"/>
                  <a:ea typeface="TT Interphases Bold"/>
                  <a:cs typeface="TT Interphases Bold"/>
                  <a:sym typeface="TT Interphases Bold"/>
                </a:rPr>
                <a:t>40-55%</a:t>
              </a:r>
              <a:r>
                <a:rPr lang="en-US" sz="2681" spc="-53">
                  <a:solidFill>
                    <a:srgbClr val="000000"/>
                  </a:solidFill>
                  <a:latin typeface="TT Interphases"/>
                  <a:ea typeface="TT Interphases"/>
                  <a:cs typeface="TT Interphases"/>
                  <a:sym typeface="TT Interphases"/>
                </a:rPr>
                <a:t> </a:t>
              </a:r>
              <a:r>
                <a:rPr lang="en-US" sz="2681" spc="-53" strike="noStrike" u="none">
                  <a:solidFill>
                    <a:srgbClr val="000000"/>
                  </a:solidFill>
                  <a:latin typeface="TT Interphases"/>
                  <a:ea typeface="TT Interphases"/>
                  <a:cs typeface="TT Interphases"/>
                  <a:sym typeface="TT Interphases"/>
                </a:rPr>
                <a:t>small food &amp; CPG business owners overlook key expenses when </a:t>
              </a:r>
              <a:r>
                <a:rPr lang="en-US" b="true" sz="2681" spc="-53" strike="noStrike" u="none">
                  <a:solidFill>
                    <a:srgbClr val="000000"/>
                  </a:solidFill>
                  <a:latin typeface="TT Interphases Bold"/>
                  <a:ea typeface="TT Interphases Bold"/>
                  <a:cs typeface="TT Interphases Bold"/>
                  <a:sym typeface="TT Interphases Bold"/>
                </a:rPr>
                <a:t>tracking true costs</a:t>
              </a:r>
              <a:r>
                <a:rPr lang="en-US" sz="2681" spc="-53" strike="noStrike" u="none">
                  <a:solidFill>
                    <a:srgbClr val="000000"/>
                  </a:solidFill>
                  <a:latin typeface="TT Interphases"/>
                  <a:ea typeface="TT Interphases"/>
                  <a:cs typeface="TT Interphases"/>
                  <a:sym typeface="TT Interphases"/>
                </a:rPr>
                <a:t>, that affect profitability leading to inflated expenses and poor financial decisions. This lack of clarity can hinder growth, sustainability, and lead to stress of an uncertain future. While highlighting a significant gap in culinary financial management.</a:t>
              </a:r>
            </a:p>
          </p:txBody>
        </p:sp>
        <p:sp>
          <p:nvSpPr>
            <p:cNvPr name="TextBox 4" id="4"/>
            <p:cNvSpPr txBox="true"/>
            <p:nvPr/>
          </p:nvSpPr>
          <p:spPr>
            <a:xfrm rot="0">
              <a:off x="0" y="209550"/>
              <a:ext cx="12400851" cy="3725427"/>
            </a:xfrm>
            <a:prstGeom prst="rect">
              <a:avLst/>
            </a:prstGeom>
          </p:spPr>
          <p:txBody>
            <a:bodyPr anchor="t" rtlCol="false" tIns="0" lIns="0" bIns="0" rIns="0">
              <a:spAutoFit/>
            </a:bodyPr>
            <a:lstStyle/>
            <a:p>
              <a:pPr algn="l" marL="0" indent="0" lvl="0">
                <a:lnSpc>
                  <a:spcPts val="10613"/>
                </a:lnSpc>
                <a:spcBef>
                  <a:spcPct val="0"/>
                </a:spcBef>
              </a:pPr>
              <a:r>
                <a:rPr lang="en-US" sz="10613" spc="-212" strike="noStrike" u="none">
                  <a:solidFill>
                    <a:srgbClr val="000000"/>
                  </a:solidFill>
                  <a:latin typeface="Cooper BT Light"/>
                  <a:ea typeface="Cooper BT Light"/>
                  <a:cs typeface="Cooper BT Light"/>
                  <a:sym typeface="Cooper BT Light"/>
                </a:rPr>
                <a:t>True Costs Exposed</a:t>
              </a:r>
            </a:p>
          </p:txBody>
        </p:sp>
        <p:sp>
          <p:nvSpPr>
            <p:cNvPr name="TextBox 5" id="5"/>
            <p:cNvSpPr txBox="true"/>
            <p:nvPr/>
          </p:nvSpPr>
          <p:spPr>
            <a:xfrm rot="0">
              <a:off x="0" y="3972615"/>
              <a:ext cx="12400851" cy="564905"/>
            </a:xfrm>
            <a:prstGeom prst="rect">
              <a:avLst/>
            </a:prstGeom>
          </p:spPr>
          <p:txBody>
            <a:bodyPr anchor="t" rtlCol="false" tIns="0" lIns="0" bIns="0" rIns="0">
              <a:spAutoFit/>
            </a:bodyPr>
            <a:lstStyle/>
            <a:p>
              <a:pPr algn="l" marL="0" indent="0" lvl="0">
                <a:lnSpc>
                  <a:spcPts val="3485"/>
                </a:lnSpc>
                <a:spcBef>
                  <a:spcPct val="0"/>
                </a:spcBef>
              </a:pPr>
              <a:r>
                <a:rPr lang="en-US" b="true" sz="2681" spc="-53" strike="noStrike" u="none">
                  <a:solidFill>
                    <a:srgbClr val="000000"/>
                  </a:solidFill>
                  <a:latin typeface="TT Interphases Bold"/>
                  <a:ea typeface="TT Interphases Bold"/>
                  <a:cs typeface="TT Interphases Bold"/>
                  <a:sym typeface="TT Interphases Bold"/>
                </a:rPr>
                <a:t>Understanding hidden expenses is critical for success</a:t>
              </a:r>
            </a:p>
          </p:txBody>
        </p:sp>
      </p:grpSp>
      <p:grpSp>
        <p:nvGrpSpPr>
          <p:cNvPr name="Group 6" id="6"/>
          <p:cNvGrpSpPr/>
          <p:nvPr/>
        </p:nvGrpSpPr>
        <p:grpSpPr>
          <a:xfrm rot="0">
            <a:off x="0" y="0"/>
            <a:ext cx="8267700" cy="10287000"/>
            <a:chOff x="0" y="0"/>
            <a:chExt cx="2177501" cy="2709333"/>
          </a:xfrm>
        </p:grpSpPr>
        <p:sp>
          <p:nvSpPr>
            <p:cNvPr name="Freeform 7" id="7"/>
            <p:cNvSpPr/>
            <p:nvPr/>
          </p:nvSpPr>
          <p:spPr>
            <a:xfrm flipH="false" flipV="false" rot="0">
              <a:off x="0" y="0"/>
              <a:ext cx="2177501" cy="2709333"/>
            </a:xfrm>
            <a:custGeom>
              <a:avLst/>
              <a:gdLst/>
              <a:ahLst/>
              <a:cxnLst/>
              <a:rect r="r" b="b" t="t" l="l"/>
              <a:pathLst>
                <a:path h="2709333" w="2177501">
                  <a:moveTo>
                    <a:pt x="0" y="0"/>
                  </a:moveTo>
                  <a:lnTo>
                    <a:pt x="2177501" y="0"/>
                  </a:lnTo>
                  <a:lnTo>
                    <a:pt x="2177501" y="2709333"/>
                  </a:lnTo>
                  <a:lnTo>
                    <a:pt x="0" y="2709333"/>
                  </a:lnTo>
                  <a:close/>
                </a:path>
              </a:pathLst>
            </a:custGeom>
            <a:solidFill>
              <a:srgbClr val="FFFFFF"/>
            </a:solidFill>
          </p:spPr>
        </p:sp>
        <p:sp>
          <p:nvSpPr>
            <p:cNvPr name="TextBox 8" id="8"/>
            <p:cNvSpPr txBox="true"/>
            <p:nvPr/>
          </p:nvSpPr>
          <p:spPr>
            <a:xfrm>
              <a:off x="0" y="-28575"/>
              <a:ext cx="2177501" cy="2737908"/>
            </a:xfrm>
            <a:prstGeom prst="rect">
              <a:avLst/>
            </a:prstGeom>
          </p:spPr>
          <p:txBody>
            <a:bodyPr anchor="ctr" rtlCol="false" tIns="50800" lIns="50800" bIns="50800" rIns="50800"/>
            <a:lstStyle/>
            <a:p>
              <a:pPr algn="ctr" marL="0" indent="0" lvl="0">
                <a:lnSpc>
                  <a:spcPts val="2100"/>
                </a:lnSpc>
              </a:pPr>
            </a:p>
          </p:txBody>
        </p:sp>
      </p:grpSp>
      <p:grpSp>
        <p:nvGrpSpPr>
          <p:cNvPr name="Group 9" id="9"/>
          <p:cNvGrpSpPr/>
          <p:nvPr/>
        </p:nvGrpSpPr>
        <p:grpSpPr>
          <a:xfrm rot="0">
            <a:off x="666750" y="666750"/>
            <a:ext cx="6886575" cy="8953500"/>
            <a:chOff x="0" y="0"/>
            <a:chExt cx="812800" cy="1056752"/>
          </a:xfrm>
        </p:grpSpPr>
        <p:sp>
          <p:nvSpPr>
            <p:cNvPr name="Freeform 10" id="10"/>
            <p:cNvSpPr/>
            <p:nvPr/>
          </p:nvSpPr>
          <p:spPr>
            <a:xfrm flipH="false" flipV="false" rot="0">
              <a:off x="0" y="0"/>
              <a:ext cx="812800" cy="1056752"/>
            </a:xfrm>
            <a:custGeom>
              <a:avLst/>
              <a:gdLst/>
              <a:ahLst/>
              <a:cxnLst/>
              <a:rect r="r" b="b" t="t" l="l"/>
              <a:pathLst>
                <a:path h="1056752" w="812800">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l="0" t="-271" r="0" b="-271"/>
              </a:stretch>
            </a:blipFill>
          </p:spPr>
        </p:sp>
      </p:grpSp>
      <p:sp>
        <p:nvSpPr>
          <p:cNvPr name="Freeform 11" id="11"/>
          <p:cNvSpPr/>
          <p:nvPr/>
        </p:nvSpPr>
        <p:spPr>
          <a:xfrm flipH="false" flipV="false" rot="5400000">
            <a:off x="6176504" y="61454"/>
            <a:ext cx="1438275" cy="1315368"/>
          </a:xfrm>
          <a:custGeom>
            <a:avLst/>
            <a:gdLst/>
            <a:ahLst/>
            <a:cxnLst/>
            <a:rect r="r" b="b" t="t" l="l"/>
            <a:pathLst>
              <a:path h="1315368" w="1438275">
                <a:moveTo>
                  <a:pt x="0" y="0"/>
                </a:moveTo>
                <a:lnTo>
                  <a:pt x="1438275" y="0"/>
                </a:lnTo>
                <a:lnTo>
                  <a:pt x="1438275" y="1315367"/>
                </a:lnTo>
                <a:lnTo>
                  <a:pt x="0" y="13153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9346250" y="2008890"/>
            <a:ext cx="7913050" cy="895350"/>
            <a:chOff x="0" y="0"/>
            <a:chExt cx="10550733" cy="1193800"/>
          </a:xfrm>
        </p:grpSpPr>
        <p:sp>
          <p:nvSpPr>
            <p:cNvPr name="TextBox 13" id="13"/>
            <p:cNvSpPr txBox="true"/>
            <p:nvPr/>
          </p:nvSpPr>
          <p:spPr>
            <a:xfrm rot="0">
              <a:off x="0" y="-66675"/>
              <a:ext cx="10550733" cy="676275"/>
            </a:xfrm>
            <a:prstGeom prst="rect">
              <a:avLst/>
            </a:prstGeom>
          </p:spPr>
          <p:txBody>
            <a:bodyPr anchor="t" rtlCol="false" tIns="0" lIns="0" bIns="0" rIns="0">
              <a:spAutoFit/>
            </a:bodyPr>
            <a:lstStyle/>
            <a:p>
              <a:pPr algn="l" marL="0" indent="0" lvl="0">
                <a:lnSpc>
                  <a:spcPts val="4200"/>
                </a:lnSpc>
              </a:pPr>
              <a:r>
                <a:rPr lang="en-US" b="true" sz="3000" strike="noStrike" u="none">
                  <a:solidFill>
                    <a:srgbClr val="000000"/>
                  </a:solidFill>
                  <a:latin typeface="Proxima Nova Condensed Bold"/>
                  <a:ea typeface="Proxima Nova Condensed Bold"/>
                  <a:cs typeface="Proxima Nova Condensed Bold"/>
                  <a:sym typeface="Proxima Nova Condensed Bold"/>
                </a:rPr>
                <a:t>THE CHALLENGE OF COST AWARENESS</a:t>
              </a:r>
            </a:p>
          </p:txBody>
        </p:sp>
        <p:sp>
          <p:nvSpPr>
            <p:cNvPr name="TextBox 14" id="14"/>
            <p:cNvSpPr txBox="true"/>
            <p:nvPr/>
          </p:nvSpPr>
          <p:spPr>
            <a:xfrm rot="0">
              <a:off x="0" y="709507"/>
              <a:ext cx="10550733" cy="484293"/>
            </a:xfrm>
            <a:prstGeom prst="rect">
              <a:avLst/>
            </a:prstGeom>
          </p:spPr>
          <p:txBody>
            <a:bodyPr anchor="t" rtlCol="false" tIns="0" lIns="0" bIns="0" rIns="0">
              <a:spAutoFit/>
            </a:bodyPr>
            <a:lstStyle/>
            <a:p>
              <a:pPr algn="l" marL="0" indent="0" lvl="0">
                <a:lnSpc>
                  <a:spcPts val="3080"/>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00" y="5506709"/>
            <a:ext cx="8895342" cy="3751591"/>
          </a:xfrm>
          <a:prstGeom prst="rect">
            <a:avLst/>
          </a:prstGeom>
        </p:spPr>
        <p:txBody>
          <a:bodyPr anchor="t" rtlCol="false" tIns="0" lIns="0" bIns="0" rIns="0">
            <a:spAutoFit/>
          </a:bodyPr>
          <a:lstStyle/>
          <a:p>
            <a:pPr algn="l" marL="0" indent="0" lvl="0">
              <a:lnSpc>
                <a:spcPts val="3333"/>
              </a:lnSpc>
              <a:spcBef>
                <a:spcPct val="0"/>
              </a:spcBef>
            </a:pPr>
            <a:r>
              <a:rPr lang="en-US" sz="2564" spc="-51" strike="noStrike" u="none">
                <a:solidFill>
                  <a:srgbClr val="000000"/>
                </a:solidFill>
                <a:latin typeface="TT Interphases"/>
                <a:ea typeface="TT Interphases"/>
                <a:cs typeface="TT Interphases"/>
                <a:sym typeface="TT Interphases"/>
              </a:rPr>
              <a:t>Current tools for small food businesses often lack usability; </a:t>
            </a:r>
            <a:r>
              <a:rPr lang="en-US" sz="2564" spc="-51" strike="noStrike" u="none">
                <a:solidFill>
                  <a:srgbClr val="000000"/>
                </a:solidFill>
                <a:latin typeface="TT Interphases"/>
                <a:ea typeface="TT Interphases"/>
                <a:cs typeface="TT Interphases"/>
                <a:sym typeface="TT Interphases"/>
              </a:rPr>
              <a:t>they are either overly complex leaving foodpreneurs overwhelmed,</a:t>
            </a:r>
            <a:r>
              <a:rPr lang="en-US" sz="2564" spc="-51" strike="noStrike" u="none">
                <a:solidFill>
                  <a:srgbClr val="000000"/>
                </a:solidFill>
                <a:latin typeface="TT Interphases"/>
                <a:ea typeface="TT Interphases"/>
                <a:cs typeface="TT Interphases"/>
                <a:sym typeface="TT Interphases"/>
              </a:rPr>
              <a:t> </a:t>
            </a:r>
          </a:p>
          <a:p>
            <a:pPr algn="l" marL="0" indent="0" lvl="0">
              <a:lnSpc>
                <a:spcPts val="3333"/>
              </a:lnSpc>
              <a:spcBef>
                <a:spcPct val="0"/>
              </a:spcBef>
            </a:pPr>
            <a:r>
              <a:rPr lang="en-US" sz="2564" spc="-51" strike="noStrike" u="none">
                <a:solidFill>
                  <a:srgbClr val="000000"/>
                </a:solidFill>
                <a:latin typeface="TT Interphases"/>
                <a:ea typeface="TT Interphases"/>
                <a:cs typeface="TT Interphases"/>
                <a:sym typeface="TT Interphases"/>
              </a:rPr>
              <a:t>lacking essential features for effective cost management, </a:t>
            </a:r>
          </a:p>
          <a:p>
            <a:pPr algn="l" marL="0" indent="0" lvl="0">
              <a:lnSpc>
                <a:spcPts val="3333"/>
              </a:lnSpc>
              <a:spcBef>
                <a:spcPct val="0"/>
              </a:spcBef>
            </a:pPr>
            <a:r>
              <a:rPr lang="en-US" sz="2564" spc="-51" strike="noStrike" u="none">
                <a:solidFill>
                  <a:srgbClr val="000000"/>
                </a:solidFill>
                <a:latin typeface="TT Interphases"/>
                <a:ea typeface="TT Interphases"/>
                <a:cs typeface="TT Interphases"/>
                <a:sym typeface="TT Interphases"/>
              </a:rPr>
              <a:t>or too primitive to offer meaningful insights, leaving curators uninformed creating a significant barrier to success for daily operations.</a:t>
            </a:r>
          </a:p>
          <a:p>
            <a:pPr algn="l" marL="0" indent="0" lvl="0">
              <a:lnSpc>
                <a:spcPts val="3333"/>
              </a:lnSpc>
              <a:spcBef>
                <a:spcPct val="0"/>
              </a:spcBef>
            </a:pPr>
          </a:p>
          <a:p>
            <a:pPr algn="l" marL="0" indent="0" lvl="0">
              <a:lnSpc>
                <a:spcPts val="3333"/>
              </a:lnSpc>
              <a:spcBef>
                <a:spcPct val="0"/>
              </a:spcBef>
            </a:pPr>
          </a:p>
          <a:p>
            <a:pPr algn="l" marL="0" indent="0" lvl="0">
              <a:lnSpc>
                <a:spcPts val="3333"/>
              </a:lnSpc>
              <a:spcBef>
                <a:spcPct val="0"/>
              </a:spcBef>
            </a:pPr>
            <a:r>
              <a:rPr lang="en-US" sz="2564" spc="-51" strike="noStrike" u="none">
                <a:solidFill>
                  <a:srgbClr val="000000"/>
                </a:solidFill>
                <a:latin typeface="TT Interphases"/>
                <a:ea typeface="TT Interphases"/>
                <a:cs typeface="TT Interphases"/>
                <a:sym typeface="TT Interphases"/>
              </a:rPr>
              <a:t> </a:t>
            </a:r>
          </a:p>
        </p:txBody>
      </p:sp>
      <p:sp>
        <p:nvSpPr>
          <p:cNvPr name="TextBox 3" id="3"/>
          <p:cNvSpPr txBox="true"/>
          <p:nvPr/>
        </p:nvSpPr>
        <p:spPr>
          <a:xfrm rot="0">
            <a:off x="9144000" y="3181350"/>
            <a:ext cx="8895342" cy="1349731"/>
          </a:xfrm>
          <a:prstGeom prst="rect">
            <a:avLst/>
          </a:prstGeom>
        </p:spPr>
        <p:txBody>
          <a:bodyPr anchor="t" rtlCol="false" tIns="0" lIns="0" bIns="0" rIns="0">
            <a:spAutoFit/>
          </a:bodyPr>
          <a:lstStyle/>
          <a:p>
            <a:pPr algn="l" marL="0" indent="0" lvl="0">
              <a:lnSpc>
                <a:spcPts val="10151"/>
              </a:lnSpc>
              <a:spcBef>
                <a:spcPct val="0"/>
              </a:spcBef>
            </a:pPr>
            <a:r>
              <a:rPr lang="en-US" sz="10151" spc="-203">
                <a:solidFill>
                  <a:srgbClr val="000000"/>
                </a:solidFill>
                <a:latin typeface="Cooper BT Light"/>
                <a:ea typeface="Cooper BT Light"/>
                <a:cs typeface="Cooper BT Light"/>
                <a:sym typeface="Cooper BT Light"/>
              </a:rPr>
              <a:t>Innovation </a:t>
            </a:r>
            <a:r>
              <a:rPr lang="en-US" sz="10151" spc="-203" strike="noStrike" u="none">
                <a:solidFill>
                  <a:srgbClr val="000000"/>
                </a:solidFill>
                <a:latin typeface="Cooper BT Light"/>
                <a:ea typeface="Cooper BT Light"/>
                <a:cs typeface="Cooper BT Light"/>
                <a:sym typeface="Cooper BT Light"/>
              </a:rPr>
              <a:t>Gap</a:t>
            </a:r>
          </a:p>
        </p:txBody>
      </p:sp>
      <p:grpSp>
        <p:nvGrpSpPr>
          <p:cNvPr name="Group 4" id="4"/>
          <p:cNvGrpSpPr/>
          <p:nvPr/>
        </p:nvGrpSpPr>
        <p:grpSpPr>
          <a:xfrm rot="0">
            <a:off x="0" y="0"/>
            <a:ext cx="8267700" cy="10287000"/>
            <a:chOff x="0" y="0"/>
            <a:chExt cx="2177501" cy="2709333"/>
          </a:xfrm>
        </p:grpSpPr>
        <p:sp>
          <p:nvSpPr>
            <p:cNvPr name="Freeform 5" id="5"/>
            <p:cNvSpPr/>
            <p:nvPr/>
          </p:nvSpPr>
          <p:spPr>
            <a:xfrm flipH="false" flipV="false" rot="0">
              <a:off x="0" y="0"/>
              <a:ext cx="2177501" cy="2709333"/>
            </a:xfrm>
            <a:custGeom>
              <a:avLst/>
              <a:gdLst/>
              <a:ahLst/>
              <a:cxnLst/>
              <a:rect r="r" b="b" t="t" l="l"/>
              <a:pathLst>
                <a:path h="2709333" w="2177501">
                  <a:moveTo>
                    <a:pt x="0" y="0"/>
                  </a:moveTo>
                  <a:lnTo>
                    <a:pt x="2177501" y="0"/>
                  </a:lnTo>
                  <a:lnTo>
                    <a:pt x="2177501" y="2709333"/>
                  </a:lnTo>
                  <a:lnTo>
                    <a:pt x="0" y="2709333"/>
                  </a:lnTo>
                  <a:close/>
                </a:path>
              </a:pathLst>
            </a:custGeom>
            <a:solidFill>
              <a:srgbClr val="FFD300"/>
            </a:solidFill>
          </p:spPr>
        </p:sp>
        <p:sp>
          <p:nvSpPr>
            <p:cNvPr name="TextBox 6" id="6"/>
            <p:cNvSpPr txBox="true"/>
            <p:nvPr/>
          </p:nvSpPr>
          <p:spPr>
            <a:xfrm>
              <a:off x="0" y="-28575"/>
              <a:ext cx="2177501" cy="2737908"/>
            </a:xfrm>
            <a:prstGeom prst="rect">
              <a:avLst/>
            </a:prstGeom>
          </p:spPr>
          <p:txBody>
            <a:bodyPr anchor="ctr" rtlCol="false" tIns="50800" lIns="50800" bIns="50800" rIns="50800"/>
            <a:lstStyle/>
            <a:p>
              <a:pPr algn="ctr" marL="0" indent="0" lvl="0">
                <a:lnSpc>
                  <a:spcPts val="2100"/>
                </a:lnSpc>
              </a:pPr>
            </a:p>
          </p:txBody>
        </p:sp>
      </p:grpSp>
      <p:grpSp>
        <p:nvGrpSpPr>
          <p:cNvPr name="Group 7" id="7"/>
          <p:cNvGrpSpPr/>
          <p:nvPr/>
        </p:nvGrpSpPr>
        <p:grpSpPr>
          <a:xfrm rot="0">
            <a:off x="666750" y="666750"/>
            <a:ext cx="6886575" cy="8953500"/>
            <a:chOff x="0" y="0"/>
            <a:chExt cx="812800" cy="1056752"/>
          </a:xfrm>
        </p:grpSpPr>
        <p:sp>
          <p:nvSpPr>
            <p:cNvPr name="Freeform 8" id="8"/>
            <p:cNvSpPr/>
            <p:nvPr/>
          </p:nvSpPr>
          <p:spPr>
            <a:xfrm flipH="false" flipV="false" rot="0">
              <a:off x="0" y="0"/>
              <a:ext cx="812800" cy="1056752"/>
            </a:xfrm>
            <a:custGeom>
              <a:avLst/>
              <a:gdLst/>
              <a:ahLst/>
              <a:cxnLst/>
              <a:rect r="r" b="b" t="t" l="l"/>
              <a:pathLst>
                <a:path h="1056752" w="812800">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l="0" t="-271" r="0" b="-271"/>
              </a:stretch>
            </a:blipFill>
          </p:spPr>
        </p:sp>
      </p:grpSp>
      <p:sp>
        <p:nvSpPr>
          <p:cNvPr name="Freeform 9" id="9"/>
          <p:cNvSpPr/>
          <p:nvPr/>
        </p:nvSpPr>
        <p:spPr>
          <a:xfrm flipH="false" flipV="false" rot="5400000">
            <a:off x="6176504" y="61454"/>
            <a:ext cx="1438275" cy="1315368"/>
          </a:xfrm>
          <a:custGeom>
            <a:avLst/>
            <a:gdLst/>
            <a:ahLst/>
            <a:cxnLst/>
            <a:rect r="r" b="b" t="t" l="l"/>
            <a:pathLst>
              <a:path h="1315368" w="1438275">
                <a:moveTo>
                  <a:pt x="0" y="0"/>
                </a:moveTo>
                <a:lnTo>
                  <a:pt x="1438275" y="0"/>
                </a:lnTo>
                <a:lnTo>
                  <a:pt x="1438275" y="1315367"/>
                </a:lnTo>
                <a:lnTo>
                  <a:pt x="0" y="13153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10" id="10"/>
          <p:cNvSpPr txBox="true"/>
          <p:nvPr/>
        </p:nvSpPr>
        <p:spPr>
          <a:xfrm rot="0">
            <a:off x="9144000" y="4613380"/>
            <a:ext cx="14392275" cy="530120"/>
          </a:xfrm>
          <a:prstGeom prst="rect">
            <a:avLst/>
          </a:prstGeom>
        </p:spPr>
        <p:txBody>
          <a:bodyPr anchor="t" rtlCol="false" tIns="0" lIns="0" bIns="0" rIns="0">
            <a:spAutoFit/>
          </a:bodyPr>
          <a:lstStyle/>
          <a:p>
            <a:pPr algn="l" marL="0" indent="0" lvl="0">
              <a:lnSpc>
                <a:spcPts val="4099"/>
              </a:lnSpc>
              <a:spcBef>
                <a:spcPct val="0"/>
              </a:spcBef>
            </a:pPr>
            <a:r>
              <a:rPr lang="en-US" b="true" sz="3415" spc="-187" strike="noStrike" u="none">
                <a:solidFill>
                  <a:srgbClr val="000000"/>
                </a:solidFill>
                <a:latin typeface="Work Sans Semi-Bold"/>
                <a:ea typeface="Work Sans Semi-Bold"/>
                <a:cs typeface="Work Sans Semi-Bold"/>
                <a:sym typeface="Work Sans Semi-Bold"/>
              </a:rPr>
              <a:t>Navigating Tools that Fail Foodpreneurs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518604" y="2378742"/>
            <a:ext cx="9353550" cy="6183617"/>
            <a:chOff x="0" y="0"/>
            <a:chExt cx="12471400" cy="8244823"/>
          </a:xfrm>
        </p:grpSpPr>
        <p:sp>
          <p:nvSpPr>
            <p:cNvPr name="TextBox 3" id="3"/>
            <p:cNvSpPr txBox="true"/>
            <p:nvPr/>
          </p:nvSpPr>
          <p:spPr>
            <a:xfrm rot="0">
              <a:off x="0" y="5327170"/>
              <a:ext cx="12471400" cy="2917652"/>
            </a:xfrm>
            <a:prstGeom prst="rect">
              <a:avLst/>
            </a:prstGeom>
          </p:spPr>
          <p:txBody>
            <a:bodyPr anchor="t" rtlCol="false" tIns="0" lIns="0" bIns="0" rIns="0">
              <a:spAutoFit/>
            </a:bodyPr>
            <a:lstStyle/>
            <a:p>
              <a:pPr algn="l" marL="0" indent="0" lvl="0">
                <a:lnSpc>
                  <a:spcPts val="3505"/>
                </a:lnSpc>
                <a:spcBef>
                  <a:spcPct val="0"/>
                </a:spcBef>
              </a:pPr>
              <a:r>
                <a:rPr lang="en-US" sz="2696" spc="-53">
                  <a:solidFill>
                    <a:srgbClr val="FFFFFF"/>
                  </a:solidFill>
                  <a:latin typeface="TT Interphases"/>
                  <a:ea typeface="TT Interphases"/>
                  <a:cs typeface="TT Interphases"/>
                  <a:sym typeface="TT Interphases"/>
                </a:rPr>
                <a:t>Mise en Cost </a:t>
              </a:r>
              <a:r>
                <a:rPr lang="en-US" sz="2696" spc="-53" strike="noStrike" u="none">
                  <a:solidFill>
                    <a:srgbClr val="FFFFFF"/>
                  </a:solidFill>
                  <a:latin typeface="TT Interphases"/>
                  <a:ea typeface="TT Interphases"/>
                  <a:cs typeface="TT Interphases"/>
                  <a:sym typeface="TT Interphases"/>
                </a:rPr>
                <a:t>harnesses AI techology in a mobile app that provides </a:t>
              </a:r>
              <a:r>
                <a:rPr lang="en-US" b="true" sz="2696" spc="-53" strike="noStrike" u="none">
                  <a:solidFill>
                    <a:srgbClr val="FFFFFF"/>
                  </a:solidFill>
                  <a:latin typeface="TT Interphases Bold"/>
                  <a:ea typeface="TT Interphases Bold"/>
                  <a:cs typeface="TT Interphases Bold"/>
                  <a:sym typeface="TT Interphases Bold"/>
                </a:rPr>
                <a:t>effortless cost clarity and real-time cost analysis</a:t>
              </a:r>
              <a:r>
                <a:rPr lang="en-US" sz="2696" spc="-53" strike="noStrike" u="none">
                  <a:solidFill>
                    <a:srgbClr val="FFFFFF"/>
                  </a:solidFill>
                  <a:latin typeface="TT Interphases"/>
                  <a:ea typeface="TT Interphases"/>
                  <a:cs typeface="TT Interphases"/>
                  <a:sym typeface="TT Interphases"/>
                </a:rPr>
                <a:t> for every food entrepreneur, empowering them with insights and tools to make informed financial decisions and optimize their operations for greater profitability.</a:t>
              </a:r>
            </a:p>
          </p:txBody>
        </p:sp>
        <p:sp>
          <p:nvSpPr>
            <p:cNvPr name="TextBox 4" id="4"/>
            <p:cNvSpPr txBox="true"/>
            <p:nvPr/>
          </p:nvSpPr>
          <p:spPr>
            <a:xfrm rot="0">
              <a:off x="0" y="209550"/>
              <a:ext cx="12471400" cy="3747814"/>
            </a:xfrm>
            <a:prstGeom prst="rect">
              <a:avLst/>
            </a:prstGeom>
          </p:spPr>
          <p:txBody>
            <a:bodyPr anchor="t" rtlCol="false" tIns="0" lIns="0" bIns="0" rIns="0">
              <a:spAutoFit/>
            </a:bodyPr>
            <a:lstStyle/>
            <a:p>
              <a:pPr algn="l" marL="0" indent="0" lvl="0">
                <a:lnSpc>
                  <a:spcPts val="10673"/>
                </a:lnSpc>
                <a:spcBef>
                  <a:spcPct val="0"/>
                </a:spcBef>
              </a:pPr>
              <a:r>
                <a:rPr lang="en-US" sz="10673" spc="-213" strike="noStrike" u="none">
                  <a:solidFill>
                    <a:srgbClr val="FFD300"/>
                  </a:solidFill>
                  <a:latin typeface="Cooper BT Light"/>
                  <a:ea typeface="Cooper BT Light"/>
                  <a:cs typeface="Cooper BT Light"/>
                  <a:sym typeface="Cooper BT Light"/>
                </a:rPr>
                <a:t>AI-Powered Clarity</a:t>
              </a:r>
            </a:p>
          </p:txBody>
        </p:sp>
        <p:sp>
          <p:nvSpPr>
            <p:cNvPr name="TextBox 5" id="5"/>
            <p:cNvSpPr txBox="true"/>
            <p:nvPr/>
          </p:nvSpPr>
          <p:spPr>
            <a:xfrm rot="0">
              <a:off x="0" y="3985853"/>
              <a:ext cx="12471400" cy="577481"/>
            </a:xfrm>
            <a:prstGeom prst="rect">
              <a:avLst/>
            </a:prstGeom>
          </p:spPr>
          <p:txBody>
            <a:bodyPr anchor="t" rtlCol="false" tIns="0" lIns="0" bIns="0" rIns="0">
              <a:spAutoFit/>
            </a:bodyPr>
            <a:lstStyle/>
            <a:p>
              <a:pPr algn="l" marL="0" indent="0" lvl="0">
                <a:lnSpc>
                  <a:spcPts val="3505"/>
                </a:lnSpc>
                <a:spcBef>
                  <a:spcPct val="0"/>
                </a:spcBef>
              </a:pPr>
              <a:r>
                <a:rPr lang="en-US" b="true" sz="2696" spc="-53" strike="noStrike" u="none">
                  <a:solidFill>
                    <a:srgbClr val="FFFFFF"/>
                  </a:solidFill>
                  <a:latin typeface="TT Interphases Bold"/>
                  <a:ea typeface="TT Interphases Bold"/>
                  <a:cs typeface="TT Interphases Bold"/>
                  <a:sym typeface="TT Interphases Bold"/>
                </a:rPr>
                <a:t>Simplifying Cost Management for Foodpreneurs</a:t>
              </a:r>
            </a:p>
          </p:txBody>
        </p:sp>
      </p:grpSp>
      <p:grpSp>
        <p:nvGrpSpPr>
          <p:cNvPr name="Group 6" id="6"/>
          <p:cNvGrpSpPr/>
          <p:nvPr/>
        </p:nvGrpSpPr>
        <p:grpSpPr>
          <a:xfrm rot="0">
            <a:off x="0" y="0"/>
            <a:ext cx="8267700" cy="10287000"/>
            <a:chOff x="0" y="0"/>
            <a:chExt cx="2177501" cy="2709333"/>
          </a:xfrm>
        </p:grpSpPr>
        <p:sp>
          <p:nvSpPr>
            <p:cNvPr name="Freeform 7" id="7"/>
            <p:cNvSpPr/>
            <p:nvPr/>
          </p:nvSpPr>
          <p:spPr>
            <a:xfrm flipH="false" flipV="false" rot="0">
              <a:off x="0" y="0"/>
              <a:ext cx="2177501" cy="2709333"/>
            </a:xfrm>
            <a:custGeom>
              <a:avLst/>
              <a:gdLst/>
              <a:ahLst/>
              <a:cxnLst/>
              <a:rect r="r" b="b" t="t" l="l"/>
              <a:pathLst>
                <a:path h="2709333" w="2177501">
                  <a:moveTo>
                    <a:pt x="0" y="0"/>
                  </a:moveTo>
                  <a:lnTo>
                    <a:pt x="2177501" y="0"/>
                  </a:lnTo>
                  <a:lnTo>
                    <a:pt x="2177501" y="2709333"/>
                  </a:lnTo>
                  <a:lnTo>
                    <a:pt x="0" y="2709333"/>
                  </a:lnTo>
                  <a:close/>
                </a:path>
              </a:pathLst>
            </a:custGeom>
            <a:solidFill>
              <a:srgbClr val="FFD300"/>
            </a:solidFill>
          </p:spPr>
        </p:sp>
        <p:sp>
          <p:nvSpPr>
            <p:cNvPr name="TextBox 8" id="8"/>
            <p:cNvSpPr txBox="true"/>
            <p:nvPr/>
          </p:nvSpPr>
          <p:spPr>
            <a:xfrm>
              <a:off x="0" y="-28575"/>
              <a:ext cx="2177501" cy="2737908"/>
            </a:xfrm>
            <a:prstGeom prst="rect">
              <a:avLst/>
            </a:prstGeom>
          </p:spPr>
          <p:txBody>
            <a:bodyPr anchor="ctr" rtlCol="false" tIns="50800" lIns="50800" bIns="50800" rIns="50800"/>
            <a:lstStyle/>
            <a:p>
              <a:pPr algn="ctr" marL="0" indent="0" lvl="0">
                <a:lnSpc>
                  <a:spcPts val="2100"/>
                </a:lnSpc>
              </a:pPr>
            </a:p>
          </p:txBody>
        </p:sp>
      </p:grpSp>
      <p:grpSp>
        <p:nvGrpSpPr>
          <p:cNvPr name="Group 9" id="9"/>
          <p:cNvGrpSpPr/>
          <p:nvPr/>
        </p:nvGrpSpPr>
        <p:grpSpPr>
          <a:xfrm rot="0">
            <a:off x="666750" y="666750"/>
            <a:ext cx="6886575" cy="8953500"/>
            <a:chOff x="0" y="0"/>
            <a:chExt cx="812800" cy="1056752"/>
          </a:xfrm>
        </p:grpSpPr>
        <p:sp>
          <p:nvSpPr>
            <p:cNvPr name="Freeform 10" id="10"/>
            <p:cNvSpPr/>
            <p:nvPr/>
          </p:nvSpPr>
          <p:spPr>
            <a:xfrm flipH="false" flipV="false" rot="0">
              <a:off x="0" y="0"/>
              <a:ext cx="812800" cy="1056752"/>
            </a:xfrm>
            <a:custGeom>
              <a:avLst/>
              <a:gdLst/>
              <a:ahLst/>
              <a:cxnLst/>
              <a:rect r="r" b="b" t="t" l="l"/>
              <a:pathLst>
                <a:path h="1056752" w="812800">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solidFill>
              <a:srgbClr val="000000">
                <a:alpha val="0"/>
              </a:srgbClr>
            </a:solidFill>
            <a:ln w="12700">
              <a:solidFill>
                <a:srgbClr val="000000"/>
              </a:solidFill>
            </a:ln>
          </p:spPr>
        </p:sp>
      </p:grpSp>
      <p:sp>
        <p:nvSpPr>
          <p:cNvPr name="Freeform 11" id="11"/>
          <p:cNvSpPr/>
          <p:nvPr/>
        </p:nvSpPr>
        <p:spPr>
          <a:xfrm flipH="false" flipV="false" rot="5400000">
            <a:off x="7548562" y="61454"/>
            <a:ext cx="1438275" cy="1315368"/>
          </a:xfrm>
          <a:custGeom>
            <a:avLst/>
            <a:gdLst/>
            <a:ahLst/>
            <a:cxnLst/>
            <a:rect r="r" b="b" t="t" l="l"/>
            <a:pathLst>
              <a:path h="1315368" w="1438275">
                <a:moveTo>
                  <a:pt x="0" y="0"/>
                </a:moveTo>
                <a:lnTo>
                  <a:pt x="1438276" y="0"/>
                </a:lnTo>
                <a:lnTo>
                  <a:pt x="1438276" y="1315367"/>
                </a:lnTo>
                <a:lnTo>
                  <a:pt x="0" y="1315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666750" y="666750"/>
            <a:ext cx="6886575" cy="9607602"/>
            <a:chOff x="0" y="0"/>
            <a:chExt cx="1287005" cy="1795527"/>
          </a:xfrm>
        </p:grpSpPr>
        <p:sp>
          <p:nvSpPr>
            <p:cNvPr name="Freeform 13" id="13"/>
            <p:cNvSpPr/>
            <p:nvPr/>
          </p:nvSpPr>
          <p:spPr>
            <a:xfrm flipH="false" flipV="false" rot="0">
              <a:off x="0" y="0"/>
              <a:ext cx="1287005" cy="1795527"/>
            </a:xfrm>
            <a:custGeom>
              <a:avLst/>
              <a:gdLst/>
              <a:ahLst/>
              <a:cxnLst/>
              <a:rect r="r" b="b" t="t" l="l"/>
              <a:pathLst>
                <a:path h="1795527" w="1287005">
                  <a:moveTo>
                    <a:pt x="16863" y="0"/>
                  </a:moveTo>
                  <a:lnTo>
                    <a:pt x="1270142" y="0"/>
                  </a:lnTo>
                  <a:cubicBezTo>
                    <a:pt x="1274615" y="0"/>
                    <a:pt x="1278904" y="1777"/>
                    <a:pt x="1282066" y="4939"/>
                  </a:cubicBezTo>
                  <a:cubicBezTo>
                    <a:pt x="1285229" y="8102"/>
                    <a:pt x="1287005" y="12391"/>
                    <a:pt x="1287005" y="16863"/>
                  </a:cubicBezTo>
                  <a:lnTo>
                    <a:pt x="1287005" y="1778664"/>
                  </a:lnTo>
                  <a:cubicBezTo>
                    <a:pt x="1287005" y="1787977"/>
                    <a:pt x="1279455" y="1795527"/>
                    <a:pt x="1270142" y="1795527"/>
                  </a:cubicBezTo>
                  <a:lnTo>
                    <a:pt x="16863" y="1795527"/>
                  </a:lnTo>
                  <a:cubicBezTo>
                    <a:pt x="12391" y="1795527"/>
                    <a:pt x="8102" y="1793751"/>
                    <a:pt x="4939" y="1790588"/>
                  </a:cubicBezTo>
                  <a:cubicBezTo>
                    <a:pt x="1777" y="1787426"/>
                    <a:pt x="0" y="1783137"/>
                    <a:pt x="0" y="1778664"/>
                  </a:cubicBezTo>
                  <a:lnTo>
                    <a:pt x="0" y="16863"/>
                  </a:lnTo>
                  <a:cubicBezTo>
                    <a:pt x="0" y="7550"/>
                    <a:pt x="7550" y="0"/>
                    <a:pt x="16863" y="0"/>
                  </a:cubicBezTo>
                  <a:close/>
                </a:path>
              </a:pathLst>
            </a:custGeom>
            <a:blipFill>
              <a:blip r:embed="rId4"/>
              <a:stretch>
                <a:fillRect l="-31466" t="0" r="-31466"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858125" y="0"/>
            <a:ext cx="10429875" cy="10287000"/>
            <a:chOff x="0" y="0"/>
            <a:chExt cx="1201192" cy="1184737"/>
          </a:xfrm>
        </p:grpSpPr>
        <p:sp>
          <p:nvSpPr>
            <p:cNvPr name="Freeform 3" id="3"/>
            <p:cNvSpPr/>
            <p:nvPr/>
          </p:nvSpPr>
          <p:spPr>
            <a:xfrm flipH="false" flipV="false" rot="0">
              <a:off x="0" y="0"/>
              <a:ext cx="1201192" cy="1184737"/>
            </a:xfrm>
            <a:custGeom>
              <a:avLst/>
              <a:gdLst/>
              <a:ahLst/>
              <a:cxnLst/>
              <a:rect r="r" b="b" t="t" l="l"/>
              <a:pathLst>
                <a:path h="1184737" w="1201192">
                  <a:moveTo>
                    <a:pt x="0" y="0"/>
                  </a:moveTo>
                  <a:lnTo>
                    <a:pt x="1201192" y="0"/>
                  </a:lnTo>
                  <a:lnTo>
                    <a:pt x="1201192" y="1184737"/>
                  </a:lnTo>
                  <a:lnTo>
                    <a:pt x="0" y="1184737"/>
                  </a:lnTo>
                  <a:close/>
                </a:path>
              </a:pathLst>
            </a:custGeom>
            <a:blipFill>
              <a:blip r:embed="rId2"/>
              <a:stretch>
                <a:fillRect l="-193" t="0" r="-193" b="0"/>
              </a:stretch>
            </a:blipFill>
          </p:spPr>
        </p:sp>
      </p:grpSp>
      <p:grpSp>
        <p:nvGrpSpPr>
          <p:cNvPr name="Group 4" id="4"/>
          <p:cNvGrpSpPr/>
          <p:nvPr/>
        </p:nvGrpSpPr>
        <p:grpSpPr>
          <a:xfrm rot="0">
            <a:off x="703472" y="0"/>
            <a:ext cx="6338236" cy="5346871"/>
            <a:chOff x="0" y="0"/>
            <a:chExt cx="8450981" cy="7129161"/>
          </a:xfrm>
        </p:grpSpPr>
        <p:sp>
          <p:nvSpPr>
            <p:cNvPr name="TextBox 5" id="5"/>
            <p:cNvSpPr txBox="true"/>
            <p:nvPr/>
          </p:nvSpPr>
          <p:spPr>
            <a:xfrm rot="0">
              <a:off x="0" y="190500"/>
              <a:ext cx="8450981" cy="3483410"/>
            </a:xfrm>
            <a:prstGeom prst="rect">
              <a:avLst/>
            </a:prstGeom>
          </p:spPr>
          <p:txBody>
            <a:bodyPr anchor="t" rtlCol="false" tIns="0" lIns="0" bIns="0" rIns="0">
              <a:spAutoFit/>
            </a:bodyPr>
            <a:lstStyle/>
            <a:p>
              <a:pPr algn="l" marL="0" indent="0" lvl="0">
                <a:lnSpc>
                  <a:spcPts val="9888"/>
                </a:lnSpc>
              </a:pPr>
              <a:r>
                <a:rPr lang="en-US" b="true" sz="9888">
                  <a:solidFill>
                    <a:srgbClr val="FFD300"/>
                  </a:solidFill>
                  <a:latin typeface="Proxima Nova Condensed Bold"/>
                  <a:ea typeface="Proxima Nova Condensed Bold"/>
                  <a:cs typeface="Proxima Nova Condensed Bold"/>
                  <a:sym typeface="Proxima Nova Condensed Bold"/>
                </a:rPr>
                <a:t>How It Works</a:t>
              </a:r>
            </a:p>
          </p:txBody>
        </p:sp>
        <p:sp>
          <p:nvSpPr>
            <p:cNvPr name="TextBox 6" id="6"/>
            <p:cNvSpPr txBox="true"/>
            <p:nvPr/>
          </p:nvSpPr>
          <p:spPr>
            <a:xfrm rot="0">
              <a:off x="0" y="4099718"/>
              <a:ext cx="8450981" cy="3029444"/>
            </a:xfrm>
            <a:prstGeom prst="rect">
              <a:avLst/>
            </a:prstGeom>
          </p:spPr>
          <p:txBody>
            <a:bodyPr anchor="t" rtlCol="false" tIns="0" lIns="0" bIns="0" rIns="0">
              <a:spAutoFit/>
            </a:bodyPr>
            <a:lstStyle/>
            <a:p>
              <a:pPr algn="l" marL="0" indent="0" lvl="0">
                <a:lnSpc>
                  <a:spcPts val="4560"/>
                </a:lnSpc>
                <a:spcBef>
                  <a:spcPct val="0"/>
                </a:spcBef>
              </a:pPr>
              <a:r>
                <a:rPr lang="en-US" sz="3257">
                  <a:solidFill>
                    <a:srgbClr val="FFFFFF"/>
                  </a:solidFill>
                  <a:latin typeface="Touvlo"/>
                  <a:ea typeface="Touvlo"/>
                  <a:cs typeface="Touvlo"/>
                  <a:sym typeface="Touvlo"/>
                </a:rPr>
                <a:t>Users engage with a </a:t>
              </a:r>
              <a:r>
                <a:rPr lang="en-US" b="true" sz="3257">
                  <a:solidFill>
                    <a:srgbClr val="FFFFFF"/>
                  </a:solidFill>
                  <a:latin typeface="Touvlo Bold"/>
                  <a:ea typeface="Touvlo Bold"/>
                  <a:cs typeface="Touvlo Bold"/>
                  <a:sym typeface="Touvlo Bold"/>
                </a:rPr>
                <a:t>simple and intuitive</a:t>
              </a:r>
              <a:r>
                <a:rPr lang="en-US" sz="3257">
                  <a:solidFill>
                    <a:srgbClr val="FFFFFF"/>
                  </a:solidFill>
                  <a:latin typeface="Touvlo"/>
                  <a:ea typeface="Touvlo"/>
                  <a:cs typeface="Touvlo"/>
                  <a:sym typeface="Touvlo"/>
                </a:rPr>
                <a:t> app, gaining instant insights into food cost management.</a:t>
              </a:r>
            </a:p>
          </p:txBody>
        </p:sp>
      </p:grpSp>
      <p:grpSp>
        <p:nvGrpSpPr>
          <p:cNvPr name="Group 7" id="7"/>
          <p:cNvGrpSpPr/>
          <p:nvPr/>
        </p:nvGrpSpPr>
        <p:grpSpPr>
          <a:xfrm rot="0">
            <a:off x="297989" y="5824982"/>
            <a:ext cx="2232669" cy="3278244"/>
            <a:chOff x="0" y="0"/>
            <a:chExt cx="2976892" cy="4370993"/>
          </a:xfrm>
        </p:grpSpPr>
        <p:sp>
          <p:nvSpPr>
            <p:cNvPr name="TextBox 8" id="8"/>
            <p:cNvSpPr txBox="true"/>
            <p:nvPr/>
          </p:nvSpPr>
          <p:spPr>
            <a:xfrm rot="0">
              <a:off x="0" y="123825"/>
              <a:ext cx="2976892" cy="1221245"/>
            </a:xfrm>
            <a:prstGeom prst="rect">
              <a:avLst/>
            </a:prstGeom>
          </p:spPr>
          <p:txBody>
            <a:bodyPr anchor="t" rtlCol="false" tIns="0" lIns="0" bIns="0" rIns="0">
              <a:spAutoFit/>
            </a:bodyPr>
            <a:lstStyle/>
            <a:p>
              <a:pPr algn="l" marL="0" indent="0" lvl="0">
                <a:lnSpc>
                  <a:spcPts val="6654"/>
                </a:lnSpc>
                <a:spcBef>
                  <a:spcPct val="0"/>
                </a:spcBef>
              </a:pPr>
              <a:r>
                <a:rPr lang="en-US" sz="6654" spc="-133" strike="noStrike" u="none">
                  <a:solidFill>
                    <a:srgbClr val="FFFFFF"/>
                  </a:solidFill>
                  <a:latin typeface="Cooper BT Light"/>
                  <a:ea typeface="Cooper BT Light"/>
                  <a:cs typeface="Cooper BT Light"/>
                  <a:sym typeface="Cooper BT Light"/>
                </a:rPr>
                <a:t>01</a:t>
              </a:r>
            </a:p>
          </p:txBody>
        </p:sp>
        <p:sp>
          <p:nvSpPr>
            <p:cNvPr name="TextBox 9" id="9"/>
            <p:cNvSpPr txBox="true"/>
            <p:nvPr/>
          </p:nvSpPr>
          <p:spPr>
            <a:xfrm rot="0">
              <a:off x="0" y="1465590"/>
              <a:ext cx="2976892" cy="548275"/>
            </a:xfrm>
            <a:prstGeom prst="rect">
              <a:avLst/>
            </a:prstGeom>
          </p:spPr>
          <p:txBody>
            <a:bodyPr anchor="t" rtlCol="false" tIns="0" lIns="0" bIns="0" rIns="0">
              <a:spAutoFit/>
            </a:bodyPr>
            <a:lstStyle/>
            <a:p>
              <a:pPr algn="l" marL="0" indent="0" lvl="0">
                <a:lnSpc>
                  <a:spcPts val="3385"/>
                </a:lnSpc>
              </a:pPr>
              <a:r>
                <a:rPr lang="en-US" sz="2604">
                  <a:solidFill>
                    <a:srgbClr val="FFFFFF"/>
                  </a:solidFill>
                  <a:latin typeface="Cooper BT Light"/>
                  <a:ea typeface="Cooper BT Light"/>
                  <a:cs typeface="Cooper BT Light"/>
                  <a:sym typeface="Cooper BT Light"/>
                </a:rPr>
                <a:t>Receipt OCR</a:t>
              </a:r>
            </a:p>
          </p:txBody>
        </p:sp>
        <p:sp>
          <p:nvSpPr>
            <p:cNvPr name="TextBox 10" id="10"/>
            <p:cNvSpPr txBox="true"/>
            <p:nvPr/>
          </p:nvSpPr>
          <p:spPr>
            <a:xfrm rot="0">
              <a:off x="0" y="3021560"/>
              <a:ext cx="2976892" cy="1349433"/>
            </a:xfrm>
            <a:prstGeom prst="rect">
              <a:avLst/>
            </a:prstGeom>
          </p:spPr>
          <p:txBody>
            <a:bodyPr anchor="t" rtlCol="false" tIns="0" lIns="0" bIns="0" rIns="0">
              <a:spAutoFit/>
            </a:bodyPr>
            <a:lstStyle/>
            <a:p>
              <a:pPr algn="l" marL="0" indent="0" lvl="0">
                <a:lnSpc>
                  <a:spcPts val="2708"/>
                </a:lnSpc>
                <a:spcBef>
                  <a:spcPct val="0"/>
                </a:spcBef>
              </a:pPr>
              <a:r>
                <a:rPr lang="en-US" sz="2083" spc="-41">
                  <a:solidFill>
                    <a:srgbClr val="FFFFFF"/>
                  </a:solidFill>
                  <a:latin typeface="TT Interphases"/>
                  <a:ea typeface="TT Interphases"/>
                  <a:cs typeface="TT Interphases"/>
                  <a:sym typeface="TT Interphases"/>
                </a:rPr>
                <a:t>Captures </a:t>
              </a:r>
              <a:r>
                <a:rPr lang="en-US" sz="2083" spc="-41" strike="noStrike" u="none">
                  <a:solidFill>
                    <a:srgbClr val="FFFFFF"/>
                  </a:solidFill>
                  <a:latin typeface="TT Interphases"/>
                  <a:ea typeface="TT Interphases"/>
                  <a:cs typeface="TT Interphases"/>
                  <a:sym typeface="TT Interphases"/>
                </a:rPr>
                <a:t>all ingredients and quantities.</a:t>
              </a:r>
            </a:p>
          </p:txBody>
        </p:sp>
      </p:grpSp>
      <p:grpSp>
        <p:nvGrpSpPr>
          <p:cNvPr name="Group 11" id="11"/>
          <p:cNvGrpSpPr/>
          <p:nvPr/>
        </p:nvGrpSpPr>
        <p:grpSpPr>
          <a:xfrm rot="0">
            <a:off x="2749732" y="5824982"/>
            <a:ext cx="2245715" cy="3433318"/>
            <a:chOff x="0" y="0"/>
            <a:chExt cx="2994286" cy="4577757"/>
          </a:xfrm>
        </p:grpSpPr>
        <p:sp>
          <p:nvSpPr>
            <p:cNvPr name="TextBox 12" id="12"/>
            <p:cNvSpPr txBox="true"/>
            <p:nvPr/>
          </p:nvSpPr>
          <p:spPr>
            <a:xfrm rot="0">
              <a:off x="0" y="133350"/>
              <a:ext cx="2994286" cy="1278771"/>
            </a:xfrm>
            <a:prstGeom prst="rect">
              <a:avLst/>
            </a:prstGeom>
          </p:spPr>
          <p:txBody>
            <a:bodyPr anchor="t" rtlCol="false" tIns="0" lIns="0" bIns="0" rIns="0">
              <a:spAutoFit/>
            </a:bodyPr>
            <a:lstStyle/>
            <a:p>
              <a:pPr algn="l" marL="0" indent="0" lvl="0">
                <a:lnSpc>
                  <a:spcPts val="6985"/>
                </a:lnSpc>
                <a:spcBef>
                  <a:spcPct val="0"/>
                </a:spcBef>
              </a:pPr>
              <a:r>
                <a:rPr lang="en-US" sz="6985" spc="-139" strike="noStrike" u="none">
                  <a:solidFill>
                    <a:srgbClr val="FFFFFF"/>
                  </a:solidFill>
                  <a:latin typeface="Cooper BT Light"/>
                  <a:ea typeface="Cooper BT Light"/>
                  <a:cs typeface="Cooper BT Light"/>
                  <a:sym typeface="Cooper BT Light"/>
                </a:rPr>
                <a:t>02</a:t>
              </a:r>
            </a:p>
          </p:txBody>
        </p:sp>
        <p:sp>
          <p:nvSpPr>
            <p:cNvPr name="TextBox 13" id="13"/>
            <p:cNvSpPr txBox="true"/>
            <p:nvPr/>
          </p:nvSpPr>
          <p:spPr>
            <a:xfrm rot="0">
              <a:off x="0" y="1523931"/>
              <a:ext cx="2994286" cy="1137570"/>
            </a:xfrm>
            <a:prstGeom prst="rect">
              <a:avLst/>
            </a:prstGeom>
          </p:spPr>
          <p:txBody>
            <a:bodyPr anchor="t" rtlCol="false" tIns="0" lIns="0" bIns="0" rIns="0">
              <a:spAutoFit/>
            </a:bodyPr>
            <a:lstStyle/>
            <a:p>
              <a:pPr algn="l" marL="0" indent="0" lvl="0">
                <a:lnSpc>
                  <a:spcPts val="3405"/>
                </a:lnSpc>
                <a:spcBef>
                  <a:spcPct val="0"/>
                </a:spcBef>
              </a:pPr>
              <a:r>
                <a:rPr lang="en-US" sz="2619" strike="noStrike" u="none">
                  <a:solidFill>
                    <a:srgbClr val="FFFFFF"/>
                  </a:solidFill>
                  <a:latin typeface="Cooper BT Light"/>
                  <a:ea typeface="Cooper BT Light"/>
                  <a:cs typeface="Cooper BT Light"/>
                  <a:sym typeface="Cooper BT Light"/>
                </a:rPr>
                <a:t>AI Calculates Costs</a:t>
              </a:r>
            </a:p>
          </p:txBody>
        </p:sp>
        <p:sp>
          <p:nvSpPr>
            <p:cNvPr name="TextBox 14" id="14"/>
            <p:cNvSpPr txBox="true"/>
            <p:nvPr/>
          </p:nvSpPr>
          <p:spPr>
            <a:xfrm rot="0">
              <a:off x="0" y="3675294"/>
              <a:ext cx="2994286" cy="902463"/>
            </a:xfrm>
            <a:prstGeom prst="rect">
              <a:avLst/>
            </a:prstGeom>
          </p:spPr>
          <p:txBody>
            <a:bodyPr anchor="t" rtlCol="false" tIns="0" lIns="0" bIns="0" rIns="0">
              <a:spAutoFit/>
            </a:bodyPr>
            <a:lstStyle/>
            <a:p>
              <a:pPr algn="l" marL="0" indent="0" lvl="0">
                <a:lnSpc>
                  <a:spcPts val="2724"/>
                </a:lnSpc>
                <a:spcBef>
                  <a:spcPct val="0"/>
                </a:spcBef>
              </a:pPr>
              <a:r>
                <a:rPr lang="en-US" sz="2095" spc="-41" strike="noStrike" u="none">
                  <a:solidFill>
                    <a:srgbClr val="FFFFFF"/>
                  </a:solidFill>
                  <a:latin typeface="TT Interphases"/>
                  <a:ea typeface="TT Interphases"/>
                  <a:cs typeface="TT Interphases"/>
                  <a:sym typeface="TT Interphases"/>
                </a:rPr>
                <a:t>Instant insights on total expenses.</a:t>
              </a:r>
            </a:p>
          </p:txBody>
        </p:sp>
      </p:grpSp>
      <p:grpSp>
        <p:nvGrpSpPr>
          <p:cNvPr name="Group 15" id="15"/>
          <p:cNvGrpSpPr/>
          <p:nvPr/>
        </p:nvGrpSpPr>
        <p:grpSpPr>
          <a:xfrm rot="0">
            <a:off x="5395497" y="5824982"/>
            <a:ext cx="2245630" cy="3433318"/>
            <a:chOff x="0" y="0"/>
            <a:chExt cx="2994173" cy="4577757"/>
          </a:xfrm>
        </p:grpSpPr>
        <p:sp>
          <p:nvSpPr>
            <p:cNvPr name="TextBox 16" id="16"/>
            <p:cNvSpPr txBox="true"/>
            <p:nvPr/>
          </p:nvSpPr>
          <p:spPr>
            <a:xfrm rot="0">
              <a:off x="0" y="133350"/>
              <a:ext cx="2994173" cy="1278717"/>
            </a:xfrm>
            <a:prstGeom prst="rect">
              <a:avLst/>
            </a:prstGeom>
          </p:spPr>
          <p:txBody>
            <a:bodyPr anchor="t" rtlCol="false" tIns="0" lIns="0" bIns="0" rIns="0">
              <a:spAutoFit/>
            </a:bodyPr>
            <a:lstStyle/>
            <a:p>
              <a:pPr algn="l" marL="0" indent="0" lvl="0">
                <a:lnSpc>
                  <a:spcPts val="6985"/>
                </a:lnSpc>
                <a:spcBef>
                  <a:spcPct val="0"/>
                </a:spcBef>
              </a:pPr>
              <a:r>
                <a:rPr lang="en-US" sz="6985" spc="-139" strike="noStrike" u="none">
                  <a:solidFill>
                    <a:srgbClr val="FFFFFF"/>
                  </a:solidFill>
                  <a:latin typeface="Cooper BT Light"/>
                  <a:ea typeface="Cooper BT Light"/>
                  <a:cs typeface="Cooper BT Light"/>
                  <a:sym typeface="Cooper BT Light"/>
                </a:rPr>
                <a:t>03</a:t>
              </a:r>
            </a:p>
          </p:txBody>
        </p:sp>
        <p:sp>
          <p:nvSpPr>
            <p:cNvPr name="TextBox 17" id="17"/>
            <p:cNvSpPr txBox="true"/>
            <p:nvPr/>
          </p:nvSpPr>
          <p:spPr>
            <a:xfrm rot="0">
              <a:off x="0" y="1523872"/>
              <a:ext cx="2994173" cy="1137528"/>
            </a:xfrm>
            <a:prstGeom prst="rect">
              <a:avLst/>
            </a:prstGeom>
          </p:spPr>
          <p:txBody>
            <a:bodyPr anchor="t" rtlCol="false" tIns="0" lIns="0" bIns="0" rIns="0">
              <a:spAutoFit/>
            </a:bodyPr>
            <a:lstStyle/>
            <a:p>
              <a:pPr algn="l" marL="0" indent="0" lvl="0">
                <a:lnSpc>
                  <a:spcPts val="3405"/>
                </a:lnSpc>
                <a:spcBef>
                  <a:spcPct val="0"/>
                </a:spcBef>
              </a:pPr>
              <a:r>
                <a:rPr lang="en-US" sz="2619" strike="noStrike" u="none">
                  <a:solidFill>
                    <a:srgbClr val="FFFFFF"/>
                  </a:solidFill>
                  <a:latin typeface="Cooper BT Light"/>
                  <a:ea typeface="Cooper BT Light"/>
                  <a:cs typeface="Cooper BT Light"/>
                  <a:sym typeface="Cooper BT Light"/>
                </a:rPr>
                <a:t>Optimize for Profit</a:t>
              </a:r>
            </a:p>
          </p:txBody>
        </p:sp>
        <p:sp>
          <p:nvSpPr>
            <p:cNvPr name="TextBox 18" id="18"/>
            <p:cNvSpPr txBox="true"/>
            <p:nvPr/>
          </p:nvSpPr>
          <p:spPr>
            <a:xfrm rot="0">
              <a:off x="0" y="3675327"/>
              <a:ext cx="2994173" cy="902430"/>
            </a:xfrm>
            <a:prstGeom prst="rect">
              <a:avLst/>
            </a:prstGeom>
          </p:spPr>
          <p:txBody>
            <a:bodyPr anchor="t" rtlCol="false" tIns="0" lIns="0" bIns="0" rIns="0">
              <a:spAutoFit/>
            </a:bodyPr>
            <a:lstStyle/>
            <a:p>
              <a:pPr algn="l" marL="0" indent="0" lvl="0">
                <a:lnSpc>
                  <a:spcPts val="2724"/>
                </a:lnSpc>
                <a:spcBef>
                  <a:spcPct val="0"/>
                </a:spcBef>
              </a:pPr>
              <a:r>
                <a:rPr lang="en-US" sz="2095" spc="-41" strike="noStrike" u="none">
                  <a:solidFill>
                    <a:srgbClr val="FFFFFF"/>
                  </a:solidFill>
                  <a:latin typeface="TT Interphases"/>
                  <a:ea typeface="TT Interphases"/>
                  <a:cs typeface="TT Interphases"/>
                  <a:sym typeface="TT Interphases"/>
                </a:rPr>
                <a:t>Adjust pricing for maximum returns.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A"/>
        </a:solidFill>
      </p:bgPr>
    </p:bg>
    <p:spTree>
      <p:nvGrpSpPr>
        <p:cNvPr id="1" name=""/>
        <p:cNvGrpSpPr/>
        <p:nvPr/>
      </p:nvGrpSpPr>
      <p:grpSpPr>
        <a:xfrm>
          <a:off x="0" y="0"/>
          <a:ext cx="0" cy="0"/>
          <a:chOff x="0" y="0"/>
          <a:chExt cx="0" cy="0"/>
        </a:xfrm>
      </p:grpSpPr>
      <p:sp>
        <p:nvSpPr>
          <p:cNvPr name="TextBox 2" id="2"/>
          <p:cNvSpPr txBox="true"/>
          <p:nvPr/>
        </p:nvSpPr>
        <p:spPr>
          <a:xfrm rot="0">
            <a:off x="667589" y="838200"/>
            <a:ext cx="16952821" cy="1120774"/>
          </a:xfrm>
          <a:prstGeom prst="rect">
            <a:avLst/>
          </a:prstGeom>
        </p:spPr>
        <p:txBody>
          <a:bodyPr anchor="t" rtlCol="false" tIns="0" lIns="0" bIns="0" rIns="0">
            <a:spAutoFit/>
          </a:bodyPr>
          <a:lstStyle/>
          <a:p>
            <a:pPr algn="ctr" marL="0" indent="0" lvl="0">
              <a:lnSpc>
                <a:spcPts val="8499"/>
              </a:lnSpc>
              <a:spcBef>
                <a:spcPct val="0"/>
              </a:spcBef>
            </a:pPr>
            <a:r>
              <a:rPr lang="en-US" sz="8499" spc="-169" strike="noStrike" u="none">
                <a:solidFill>
                  <a:srgbClr val="FFFFFF"/>
                </a:solidFill>
                <a:latin typeface="Cooper BT Light"/>
                <a:ea typeface="Cooper BT Light"/>
                <a:cs typeface="Cooper BT Light"/>
                <a:sym typeface="Cooper BT Light"/>
              </a:rPr>
              <a:t>How It Works</a:t>
            </a:r>
          </a:p>
        </p:txBody>
      </p:sp>
      <p:sp>
        <p:nvSpPr>
          <p:cNvPr name="TextBox 3" id="3"/>
          <p:cNvSpPr txBox="true"/>
          <p:nvPr/>
        </p:nvSpPr>
        <p:spPr>
          <a:xfrm rot="0">
            <a:off x="9296400" y="5143500"/>
            <a:ext cx="5448300" cy="1457325"/>
          </a:xfrm>
          <a:prstGeom prst="rect">
            <a:avLst/>
          </a:prstGeom>
        </p:spPr>
        <p:txBody>
          <a:bodyPr anchor="t" rtlCol="false" tIns="0" lIns="0" bIns="0" rIns="0">
            <a:spAutoFit/>
          </a:bodyPr>
          <a:lstStyle/>
          <a:p>
            <a:pPr algn="just" marL="0" indent="0" lvl="0">
              <a:lnSpc>
                <a:spcPts val="11519"/>
              </a:lnSpc>
            </a:pPr>
            <a:r>
              <a:rPr lang="en-US" sz="9600" spc="-480">
                <a:solidFill>
                  <a:srgbClr val="000000"/>
                </a:solidFill>
                <a:latin typeface="Cooper BT Light"/>
                <a:ea typeface="Cooper BT Light"/>
                <a:cs typeface="Cooper BT Light"/>
                <a:sym typeface="Cooper BT Light"/>
              </a:rPr>
              <a:t>90%</a:t>
            </a:r>
          </a:p>
        </p:txBody>
      </p:sp>
      <p:sp>
        <p:nvSpPr>
          <p:cNvPr name="TextBox 4" id="4"/>
          <p:cNvSpPr txBox="true"/>
          <p:nvPr/>
        </p:nvSpPr>
        <p:spPr>
          <a:xfrm rot="0">
            <a:off x="2105025" y="5143500"/>
            <a:ext cx="5448300" cy="1457325"/>
          </a:xfrm>
          <a:prstGeom prst="rect">
            <a:avLst/>
          </a:prstGeom>
        </p:spPr>
        <p:txBody>
          <a:bodyPr anchor="t" rtlCol="false" tIns="0" lIns="0" bIns="0" rIns="0">
            <a:spAutoFit/>
          </a:bodyPr>
          <a:lstStyle/>
          <a:p>
            <a:pPr algn="l" marL="0" indent="0" lvl="0">
              <a:lnSpc>
                <a:spcPts val="11519"/>
              </a:lnSpc>
            </a:pPr>
            <a:r>
              <a:rPr lang="en-US" sz="9600" spc="-480">
                <a:solidFill>
                  <a:srgbClr val="000000"/>
                </a:solidFill>
                <a:latin typeface="Cooper BT Light"/>
                <a:ea typeface="Cooper BT Light"/>
                <a:cs typeface="Cooper BT Light"/>
                <a:sym typeface="Cooper BT Light"/>
              </a:rPr>
              <a:t>5</a:t>
            </a:r>
            <a:r>
              <a:rPr lang="en-US" sz="9600" spc="-480">
                <a:solidFill>
                  <a:srgbClr val="000000"/>
                </a:solidFill>
                <a:latin typeface="Cooper BT Light"/>
                <a:ea typeface="Cooper BT Light"/>
                <a:cs typeface="Cooper BT Light"/>
                <a:sym typeface="Cooper BT Light"/>
              </a:rPr>
              <a:t>0+</a:t>
            </a:r>
          </a:p>
        </p:txBody>
      </p:sp>
      <p:grpSp>
        <p:nvGrpSpPr>
          <p:cNvPr name="Group 5" id="5"/>
          <p:cNvGrpSpPr/>
          <p:nvPr/>
        </p:nvGrpSpPr>
        <p:grpSpPr>
          <a:xfrm rot="0">
            <a:off x="666750" y="666750"/>
            <a:ext cx="14077950" cy="1969824"/>
            <a:chOff x="0" y="0"/>
            <a:chExt cx="18770600" cy="2626432"/>
          </a:xfrm>
        </p:grpSpPr>
        <p:sp>
          <p:nvSpPr>
            <p:cNvPr name="TextBox 6" id="6"/>
            <p:cNvSpPr txBox="true"/>
            <p:nvPr/>
          </p:nvSpPr>
          <p:spPr>
            <a:xfrm rot="0">
              <a:off x="0" y="171450"/>
              <a:ext cx="18770600" cy="1551516"/>
            </a:xfrm>
            <a:prstGeom prst="rect">
              <a:avLst/>
            </a:prstGeom>
          </p:spPr>
          <p:txBody>
            <a:bodyPr anchor="t" rtlCol="false" tIns="0" lIns="0" bIns="0" rIns="0">
              <a:spAutoFit/>
            </a:bodyPr>
            <a:lstStyle/>
            <a:p>
              <a:pPr algn="l" marL="0" indent="0" lvl="0">
                <a:lnSpc>
                  <a:spcPts val="8499"/>
                </a:lnSpc>
                <a:spcBef>
                  <a:spcPct val="0"/>
                </a:spcBef>
              </a:pPr>
              <a:r>
                <a:rPr lang="en-US" sz="8499" spc="-169" strike="noStrike" u="none">
                  <a:solidFill>
                    <a:srgbClr val="000000"/>
                  </a:solidFill>
                  <a:latin typeface="Cooper BT Light"/>
                  <a:ea typeface="Cooper BT Light"/>
                  <a:cs typeface="Cooper BT Light"/>
                  <a:sym typeface="Cooper BT Light"/>
                </a:rPr>
                <a:t>Validation: Proof of Demand</a:t>
              </a:r>
            </a:p>
          </p:txBody>
        </p:sp>
        <p:sp>
          <p:nvSpPr>
            <p:cNvPr name="TextBox 7" id="7"/>
            <p:cNvSpPr txBox="true"/>
            <p:nvPr/>
          </p:nvSpPr>
          <p:spPr>
            <a:xfrm rot="0">
              <a:off x="0" y="2108272"/>
              <a:ext cx="187706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000000"/>
                  </a:solidFill>
                  <a:latin typeface="TT Interphases Bold"/>
                  <a:ea typeface="TT Interphases Bold"/>
                  <a:cs typeface="TT Interphases Bold"/>
                  <a:sym typeface="TT Interphases Bold"/>
                </a:rPr>
                <a:t>Insights from Real Foodpreneurs</a:t>
              </a:r>
            </a:p>
          </p:txBody>
        </p:sp>
      </p:grpSp>
      <p:grpSp>
        <p:nvGrpSpPr>
          <p:cNvPr name="Group 8" id="8"/>
          <p:cNvGrpSpPr/>
          <p:nvPr/>
        </p:nvGrpSpPr>
        <p:grpSpPr>
          <a:xfrm rot="0">
            <a:off x="2105025" y="7829550"/>
            <a:ext cx="6886575" cy="1031014"/>
            <a:chOff x="0" y="0"/>
            <a:chExt cx="9182100" cy="1374685"/>
          </a:xfrm>
        </p:grpSpPr>
        <p:sp>
          <p:nvSpPr>
            <p:cNvPr name="TextBox 9" id="9"/>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000000"/>
                  </a:solidFill>
                  <a:latin typeface="Cooper BT Medium"/>
                  <a:ea typeface="Cooper BT Medium"/>
                  <a:cs typeface="Cooper BT Medium"/>
                  <a:sym typeface="Cooper BT Medium"/>
                </a:rPr>
                <a:t>Beta Users</a:t>
              </a:r>
            </a:p>
          </p:txBody>
        </p:sp>
        <p:sp>
          <p:nvSpPr>
            <p:cNvPr name="TextBox 10" id="10"/>
            <p:cNvSpPr txBox="true"/>
            <p:nvPr/>
          </p:nvSpPr>
          <p:spPr>
            <a:xfrm rot="0">
              <a:off x="0" y="854346"/>
              <a:ext cx="9182100" cy="520339"/>
            </a:xfrm>
            <a:prstGeom prst="rect">
              <a:avLst/>
            </a:prstGeom>
          </p:spPr>
          <p:txBody>
            <a:bodyPr anchor="t" rtlCol="false" tIns="0" lIns="0" bIns="0" rIns="0">
              <a:spAutoFit/>
            </a:bodyPr>
            <a:lstStyle/>
            <a:p>
              <a:pPr algn="l" marL="0" indent="0" lvl="0">
                <a:lnSpc>
                  <a:spcPts val="3119"/>
                </a:lnSpc>
                <a:spcBef>
                  <a:spcPct val="0"/>
                </a:spcBef>
              </a:pPr>
              <a:r>
                <a:rPr lang="en-US" sz="2399" spc="-47" strike="noStrike" u="none">
                  <a:solidFill>
                    <a:srgbClr val="000000"/>
                  </a:solidFill>
                  <a:latin typeface="TT Interphases"/>
                  <a:ea typeface="TT Interphases"/>
                  <a:cs typeface="TT Interphases"/>
                  <a:sym typeface="TT Interphases"/>
                </a:rPr>
                <a:t>Over fifty chefs joined our beta.</a:t>
              </a:r>
            </a:p>
          </p:txBody>
        </p:sp>
      </p:grpSp>
      <p:grpSp>
        <p:nvGrpSpPr>
          <p:cNvPr name="Group 11" id="11"/>
          <p:cNvGrpSpPr/>
          <p:nvPr/>
        </p:nvGrpSpPr>
        <p:grpSpPr>
          <a:xfrm rot="0">
            <a:off x="9296400" y="7829550"/>
            <a:ext cx="6886575" cy="1031014"/>
            <a:chOff x="0" y="0"/>
            <a:chExt cx="9182100" cy="1374685"/>
          </a:xfrm>
        </p:grpSpPr>
        <p:sp>
          <p:nvSpPr>
            <p:cNvPr name="TextBox 12" id="12"/>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000000"/>
                  </a:solidFill>
                  <a:latin typeface="Cooper BT Medium"/>
                  <a:ea typeface="Cooper BT Medium"/>
                  <a:cs typeface="Cooper BT Medium"/>
                  <a:sym typeface="Cooper BT Medium"/>
                </a:rPr>
                <a:t>User Satisfaction</a:t>
              </a:r>
            </a:p>
          </p:txBody>
        </p:sp>
        <p:sp>
          <p:nvSpPr>
            <p:cNvPr name="TextBox 13" id="13"/>
            <p:cNvSpPr txBox="true"/>
            <p:nvPr/>
          </p:nvSpPr>
          <p:spPr>
            <a:xfrm rot="0">
              <a:off x="0" y="854346"/>
              <a:ext cx="9182100" cy="520339"/>
            </a:xfrm>
            <a:prstGeom prst="rect">
              <a:avLst/>
            </a:prstGeom>
          </p:spPr>
          <p:txBody>
            <a:bodyPr anchor="t" rtlCol="false" tIns="0" lIns="0" bIns="0" rIns="0">
              <a:spAutoFit/>
            </a:bodyPr>
            <a:lstStyle/>
            <a:p>
              <a:pPr algn="l" marL="0" indent="0" lvl="0">
                <a:lnSpc>
                  <a:spcPts val="3119"/>
                </a:lnSpc>
                <a:spcBef>
                  <a:spcPct val="0"/>
                </a:spcBef>
              </a:pPr>
              <a:r>
                <a:rPr lang="en-US" sz="2399" spc="-47" strike="noStrike" u="none">
                  <a:solidFill>
                    <a:srgbClr val="000000"/>
                  </a:solidFill>
                  <a:latin typeface="TT Interphases"/>
                  <a:ea typeface="TT Interphases"/>
                  <a:cs typeface="TT Interphases"/>
                  <a:sym typeface="TT Interphases"/>
                </a:rPr>
                <a:t>Ninety percent of users recommend our solution.</a:t>
              </a:r>
            </a:p>
          </p:txBody>
        </p:sp>
      </p:grpSp>
      <p:sp>
        <p:nvSpPr>
          <p:cNvPr name="Freeform 14" id="14"/>
          <p:cNvSpPr/>
          <p:nvPr/>
        </p:nvSpPr>
        <p:spPr>
          <a:xfrm flipH="true" flipV="false" rot="0">
            <a:off x="16850868" y="692349"/>
            <a:ext cx="1876083" cy="1497455"/>
          </a:xfrm>
          <a:custGeom>
            <a:avLst/>
            <a:gdLst/>
            <a:ahLst/>
            <a:cxnLst/>
            <a:rect r="r" b="b" t="t" l="l"/>
            <a:pathLst>
              <a:path h="1497455" w="1876083">
                <a:moveTo>
                  <a:pt x="1876083" y="0"/>
                </a:moveTo>
                <a:lnTo>
                  <a:pt x="0" y="0"/>
                </a:lnTo>
                <a:lnTo>
                  <a:pt x="0" y="1497455"/>
                </a:lnTo>
                <a:lnTo>
                  <a:pt x="1876083" y="1497455"/>
                </a:lnTo>
                <a:lnTo>
                  <a:pt x="187608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5" id="15"/>
          <p:cNvSpPr/>
          <p:nvPr/>
        </p:nvSpPr>
        <p:spPr>
          <a:xfrm flipH="true" flipV="false" rot="9828254">
            <a:off x="-696564" y="7785594"/>
            <a:ext cx="1876083" cy="1497455"/>
          </a:xfrm>
          <a:custGeom>
            <a:avLst/>
            <a:gdLst/>
            <a:ahLst/>
            <a:cxnLst/>
            <a:rect r="r" b="b" t="t" l="l"/>
            <a:pathLst>
              <a:path h="1497455" w="1876083">
                <a:moveTo>
                  <a:pt x="1876083" y="0"/>
                </a:moveTo>
                <a:lnTo>
                  <a:pt x="0" y="0"/>
                </a:lnTo>
                <a:lnTo>
                  <a:pt x="0" y="1497456"/>
                </a:lnTo>
                <a:lnTo>
                  <a:pt x="1876083" y="1497456"/>
                </a:lnTo>
                <a:lnTo>
                  <a:pt x="187608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6" id="16"/>
          <p:cNvSpPr txBox="true"/>
          <p:nvPr/>
        </p:nvSpPr>
        <p:spPr>
          <a:xfrm rot="0">
            <a:off x="666750" y="2946972"/>
            <a:ext cx="16610230" cy="967803"/>
          </a:xfrm>
          <a:prstGeom prst="rect">
            <a:avLst/>
          </a:prstGeom>
        </p:spPr>
        <p:txBody>
          <a:bodyPr anchor="t" rtlCol="false" tIns="0" lIns="0" bIns="0" rIns="0">
            <a:spAutoFit/>
          </a:bodyPr>
          <a:lstStyle/>
          <a:p>
            <a:pPr algn="l" marL="0" indent="0" lvl="0">
              <a:lnSpc>
                <a:spcPts val="2586"/>
              </a:lnSpc>
            </a:pPr>
            <a:r>
              <a:rPr lang="en-US" sz="2155" spc="-118">
                <a:solidFill>
                  <a:srgbClr val="000000"/>
                </a:solidFill>
                <a:latin typeface="Work Sans"/>
                <a:ea typeface="Work Sans"/>
                <a:cs typeface="Work Sans"/>
                <a:sym typeface="Work Sans"/>
              </a:rPr>
              <a:t>Our early adopters, real foodpreneurs, have expressed </a:t>
            </a:r>
            <a:r>
              <a:rPr lang="en-US" b="true" sz="2155" spc="-118">
                <a:solidFill>
                  <a:srgbClr val="000000"/>
                </a:solidFill>
                <a:latin typeface="Work Sans Bold"/>
                <a:ea typeface="Work Sans Bold"/>
                <a:cs typeface="Work Sans Bold"/>
                <a:sym typeface="Work Sans Bold"/>
              </a:rPr>
              <a:t>overwhelming enthusiasm</a:t>
            </a:r>
            <a:r>
              <a:rPr lang="en-US" sz="2155" spc="-118">
                <a:solidFill>
                  <a:srgbClr val="000000"/>
                </a:solidFill>
                <a:latin typeface="Work Sans"/>
                <a:ea typeface="Work Sans"/>
                <a:cs typeface="Work Sans"/>
                <a:sym typeface="Work Sans"/>
              </a:rPr>
              <a:t> for Mise en Cost. They appreciate the simplicity and clarity our platform provides, empowering them to gain control over their costs. User feedback emphasizes the platform's vital role in enhancing their culinary ventures.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D300"/>
        </a:solidFill>
      </p:bgPr>
    </p:bg>
    <p:spTree>
      <p:nvGrpSpPr>
        <p:cNvPr id="1" name=""/>
        <p:cNvGrpSpPr/>
        <p:nvPr/>
      </p:nvGrpSpPr>
      <p:grpSpPr>
        <a:xfrm>
          <a:off x="0" y="0"/>
          <a:ext cx="0" cy="0"/>
          <a:chOff x="0" y="0"/>
          <a:chExt cx="0" cy="0"/>
        </a:xfrm>
      </p:grpSpPr>
      <p:grpSp>
        <p:nvGrpSpPr>
          <p:cNvPr name="Group 2" id="2"/>
          <p:cNvGrpSpPr/>
          <p:nvPr/>
        </p:nvGrpSpPr>
        <p:grpSpPr>
          <a:xfrm rot="0">
            <a:off x="8473009" y="666750"/>
            <a:ext cx="9148241" cy="8953500"/>
            <a:chOff x="0" y="0"/>
            <a:chExt cx="2409413" cy="2358123"/>
          </a:xfrm>
        </p:grpSpPr>
        <p:sp>
          <p:nvSpPr>
            <p:cNvPr name="Freeform 3" id="3"/>
            <p:cNvSpPr/>
            <p:nvPr/>
          </p:nvSpPr>
          <p:spPr>
            <a:xfrm flipH="false" flipV="false" rot="0">
              <a:off x="0" y="0"/>
              <a:ext cx="2409413" cy="2358124"/>
            </a:xfrm>
            <a:custGeom>
              <a:avLst/>
              <a:gdLst/>
              <a:ahLst/>
              <a:cxnLst/>
              <a:rect r="r" b="b" t="t" l="l"/>
              <a:pathLst>
                <a:path h="2358124" w="2409413">
                  <a:moveTo>
                    <a:pt x="33851" y="0"/>
                  </a:moveTo>
                  <a:lnTo>
                    <a:pt x="2375562" y="0"/>
                  </a:lnTo>
                  <a:cubicBezTo>
                    <a:pt x="2394258" y="0"/>
                    <a:pt x="2409413" y="15156"/>
                    <a:pt x="2409413" y="33851"/>
                  </a:cubicBezTo>
                  <a:lnTo>
                    <a:pt x="2409413" y="2324272"/>
                  </a:lnTo>
                  <a:cubicBezTo>
                    <a:pt x="2409413" y="2342968"/>
                    <a:pt x="2394258" y="2358124"/>
                    <a:pt x="2375562" y="2358124"/>
                  </a:cubicBezTo>
                  <a:lnTo>
                    <a:pt x="33851" y="2358124"/>
                  </a:lnTo>
                  <a:cubicBezTo>
                    <a:pt x="24873" y="2358124"/>
                    <a:pt x="16263" y="2354557"/>
                    <a:pt x="9915" y="2348209"/>
                  </a:cubicBezTo>
                  <a:cubicBezTo>
                    <a:pt x="3566" y="2341861"/>
                    <a:pt x="0" y="2333250"/>
                    <a:pt x="0" y="2324272"/>
                  </a:cubicBezTo>
                  <a:lnTo>
                    <a:pt x="0" y="33851"/>
                  </a:lnTo>
                  <a:cubicBezTo>
                    <a:pt x="0" y="15156"/>
                    <a:pt x="15156" y="0"/>
                    <a:pt x="33851" y="0"/>
                  </a:cubicBezTo>
                  <a:close/>
                </a:path>
              </a:pathLst>
            </a:custGeom>
            <a:solidFill>
              <a:srgbClr val="000000"/>
            </a:solidFill>
            <a:ln w="28575" cap="rnd">
              <a:solidFill>
                <a:srgbClr val="000000"/>
              </a:solidFill>
              <a:prstDash val="solid"/>
              <a:round/>
            </a:ln>
          </p:spPr>
        </p:sp>
        <p:sp>
          <p:nvSpPr>
            <p:cNvPr name="TextBox 4" id="4"/>
            <p:cNvSpPr txBox="true"/>
            <p:nvPr/>
          </p:nvSpPr>
          <p:spPr>
            <a:xfrm>
              <a:off x="0" y="-28575"/>
              <a:ext cx="2409413" cy="2386698"/>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666750" y="666750"/>
            <a:ext cx="6886575" cy="3048001"/>
            <a:chOff x="0" y="0"/>
            <a:chExt cx="9182100" cy="4064001"/>
          </a:xfrm>
        </p:grpSpPr>
        <p:sp>
          <p:nvSpPr>
            <p:cNvPr name="TextBox 6" id="6"/>
            <p:cNvSpPr txBox="true"/>
            <p:nvPr/>
          </p:nvSpPr>
          <p:spPr>
            <a:xfrm rot="0">
              <a:off x="0" y="3545841"/>
              <a:ext cx="91821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FFFFFF"/>
                  </a:solidFill>
                  <a:latin typeface="TT Interphases Bold"/>
                  <a:ea typeface="TT Interphases Bold"/>
                  <a:cs typeface="TT Interphases Bold"/>
                  <a:sym typeface="TT Interphases Bold"/>
                </a:rPr>
                <a:t>Essential tools for foodpreneurs' success</a:t>
              </a:r>
            </a:p>
          </p:txBody>
        </p:sp>
        <p:sp>
          <p:nvSpPr>
            <p:cNvPr name="TextBox 7" id="7"/>
            <p:cNvSpPr txBox="true"/>
            <p:nvPr/>
          </p:nvSpPr>
          <p:spPr>
            <a:xfrm rot="0">
              <a:off x="0" y="171450"/>
              <a:ext cx="9182100" cy="2986616"/>
            </a:xfrm>
            <a:prstGeom prst="rect">
              <a:avLst/>
            </a:prstGeom>
          </p:spPr>
          <p:txBody>
            <a:bodyPr anchor="t" rtlCol="false" tIns="0" lIns="0" bIns="0" rIns="0">
              <a:spAutoFit/>
            </a:bodyPr>
            <a:lstStyle/>
            <a:p>
              <a:pPr algn="l" marL="0" indent="0" lvl="0">
                <a:lnSpc>
                  <a:spcPts val="8499"/>
                </a:lnSpc>
                <a:spcBef>
                  <a:spcPct val="0"/>
                </a:spcBef>
              </a:pPr>
              <a:r>
                <a:rPr lang="en-US" sz="8499" spc="-169" strike="noStrike" u="none">
                  <a:solidFill>
                    <a:srgbClr val="000000"/>
                  </a:solidFill>
                  <a:latin typeface="Cooper BT Light"/>
                  <a:ea typeface="Cooper BT Light"/>
                  <a:cs typeface="Cooper BT Light"/>
                  <a:sym typeface="Cooper BT Light"/>
                </a:rPr>
                <a:t>MVP Core Features</a:t>
              </a:r>
            </a:p>
          </p:txBody>
        </p:sp>
      </p:grpSp>
      <p:grpSp>
        <p:nvGrpSpPr>
          <p:cNvPr name="Group 8" id="8"/>
          <p:cNvGrpSpPr/>
          <p:nvPr/>
        </p:nvGrpSpPr>
        <p:grpSpPr>
          <a:xfrm rot="0">
            <a:off x="9296400" y="5474353"/>
            <a:ext cx="6886575" cy="1294130"/>
            <a:chOff x="0" y="0"/>
            <a:chExt cx="9182100" cy="1725506"/>
          </a:xfrm>
        </p:grpSpPr>
        <p:sp>
          <p:nvSpPr>
            <p:cNvPr name="TextBox 9" id="9"/>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a:solidFill>
                    <a:srgbClr val="FFFFFF"/>
                  </a:solidFill>
                  <a:latin typeface="Cooper BT Light"/>
                  <a:ea typeface="Cooper BT Light"/>
                  <a:cs typeface="Cooper BT Light"/>
                  <a:sym typeface="Cooper BT Light"/>
                </a:rPr>
                <a:t>AI-Powered </a:t>
              </a:r>
              <a:r>
                <a:rPr lang="en-US" sz="3000" strike="noStrike" u="none">
                  <a:solidFill>
                    <a:srgbClr val="FFFFFF"/>
                  </a:solidFill>
                  <a:latin typeface="Cooper BT Light"/>
                  <a:ea typeface="Cooper BT Light"/>
                  <a:cs typeface="Cooper BT Light"/>
                  <a:sym typeface="Cooper BT Light"/>
                </a:rPr>
                <a:t>Profit Dashboard</a:t>
              </a:r>
            </a:p>
          </p:txBody>
        </p:sp>
        <p:sp>
          <p:nvSpPr>
            <p:cNvPr name="TextBox 10" id="10"/>
            <p:cNvSpPr txBox="true"/>
            <p:nvPr/>
          </p:nvSpPr>
          <p:spPr>
            <a:xfrm rot="0">
              <a:off x="0" y="686646"/>
              <a:ext cx="9182100" cy="1038860"/>
            </a:xfrm>
            <a:prstGeom prst="rect">
              <a:avLst/>
            </a:prstGeom>
          </p:spPr>
          <p:txBody>
            <a:bodyPr anchor="t" rtlCol="false" tIns="0" lIns="0" bIns="0" rIns="0">
              <a:spAutoFit/>
            </a:bodyPr>
            <a:lstStyle/>
            <a:p>
              <a:pPr algn="l" marL="0" indent="0" lvl="0">
                <a:lnSpc>
                  <a:spcPts val="3120"/>
                </a:lnSpc>
                <a:spcBef>
                  <a:spcPct val="0"/>
                </a:spcBef>
              </a:pPr>
              <a:r>
                <a:rPr lang="en-US" sz="2400" spc="-48" strike="noStrike" u="none">
                  <a:solidFill>
                    <a:srgbClr val="FFFFFF"/>
                  </a:solidFill>
                  <a:latin typeface="TT Interphases"/>
                  <a:ea typeface="TT Interphases"/>
                  <a:cs typeface="TT Interphases"/>
                  <a:sym typeface="TT Interphases"/>
                </a:rPr>
                <a:t>Visualize profits and track financial performance to reduce waste and maximize profits.</a:t>
              </a:r>
            </a:p>
          </p:txBody>
        </p:sp>
      </p:grpSp>
      <p:grpSp>
        <p:nvGrpSpPr>
          <p:cNvPr name="Group 11" id="11"/>
          <p:cNvGrpSpPr/>
          <p:nvPr/>
        </p:nvGrpSpPr>
        <p:grpSpPr>
          <a:xfrm rot="0">
            <a:off x="9296400" y="7374590"/>
            <a:ext cx="6886575" cy="1294130"/>
            <a:chOff x="0" y="0"/>
            <a:chExt cx="9182100" cy="1725506"/>
          </a:xfrm>
        </p:grpSpPr>
        <p:sp>
          <p:nvSpPr>
            <p:cNvPr name="TextBox 12" id="12"/>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FFFFFF"/>
                  </a:solidFill>
                  <a:latin typeface="Cooper BT Light"/>
                  <a:ea typeface="Cooper BT Light"/>
                  <a:cs typeface="Cooper BT Light"/>
                  <a:sym typeface="Cooper BT Light"/>
                </a:rPr>
                <a:t>User-Friendly Interface</a:t>
              </a:r>
            </a:p>
          </p:txBody>
        </p:sp>
        <p:sp>
          <p:nvSpPr>
            <p:cNvPr name="TextBox 13" id="13"/>
            <p:cNvSpPr txBox="true"/>
            <p:nvPr/>
          </p:nvSpPr>
          <p:spPr>
            <a:xfrm rot="0">
              <a:off x="0" y="686646"/>
              <a:ext cx="9182100" cy="1038860"/>
            </a:xfrm>
            <a:prstGeom prst="rect">
              <a:avLst/>
            </a:prstGeom>
          </p:spPr>
          <p:txBody>
            <a:bodyPr anchor="t" rtlCol="false" tIns="0" lIns="0" bIns="0" rIns="0">
              <a:spAutoFit/>
            </a:bodyPr>
            <a:lstStyle/>
            <a:p>
              <a:pPr algn="l" marL="0" indent="0" lvl="0">
                <a:lnSpc>
                  <a:spcPts val="3120"/>
                </a:lnSpc>
                <a:spcBef>
                  <a:spcPct val="0"/>
                </a:spcBef>
              </a:pPr>
              <a:r>
                <a:rPr lang="en-US" sz="2400" spc="-48" strike="noStrike" u="none">
                  <a:solidFill>
                    <a:srgbClr val="FFFFFF"/>
                  </a:solidFill>
                  <a:latin typeface="TT Interphases"/>
                  <a:ea typeface="TT Interphases"/>
                  <a:cs typeface="TT Interphases"/>
                  <a:sym typeface="TT Interphases"/>
                </a:rPr>
                <a:t>Intuitive design ensures effortless navigation and accesibility.</a:t>
              </a:r>
            </a:p>
          </p:txBody>
        </p:sp>
      </p:grpSp>
      <p:sp>
        <p:nvSpPr>
          <p:cNvPr name="Freeform 14" id="14"/>
          <p:cNvSpPr/>
          <p:nvPr/>
        </p:nvSpPr>
        <p:spPr>
          <a:xfrm flipH="false" flipV="false" rot="0">
            <a:off x="-700808" y="6607510"/>
            <a:ext cx="3459016" cy="4461104"/>
          </a:xfrm>
          <a:custGeom>
            <a:avLst/>
            <a:gdLst/>
            <a:ahLst/>
            <a:cxnLst/>
            <a:rect r="r" b="b" t="t" l="l"/>
            <a:pathLst>
              <a:path h="4461104" w="3459016">
                <a:moveTo>
                  <a:pt x="0" y="0"/>
                </a:moveTo>
                <a:lnTo>
                  <a:pt x="3459016" y="0"/>
                </a:lnTo>
                <a:lnTo>
                  <a:pt x="3459016" y="4461105"/>
                </a:lnTo>
                <a:lnTo>
                  <a:pt x="0" y="44611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2961549" y="3947982"/>
            <a:ext cx="4791216" cy="5672268"/>
            <a:chOff x="0" y="0"/>
            <a:chExt cx="1287005" cy="1523672"/>
          </a:xfrm>
        </p:grpSpPr>
        <p:sp>
          <p:nvSpPr>
            <p:cNvPr name="Freeform 16" id="16"/>
            <p:cNvSpPr/>
            <p:nvPr/>
          </p:nvSpPr>
          <p:spPr>
            <a:xfrm flipH="false" flipV="false" rot="0">
              <a:off x="0" y="0"/>
              <a:ext cx="1287005" cy="1523672"/>
            </a:xfrm>
            <a:custGeom>
              <a:avLst/>
              <a:gdLst/>
              <a:ahLst/>
              <a:cxnLst/>
              <a:rect r="r" b="b" t="t" l="l"/>
              <a:pathLst>
                <a:path h="1523672" w="1287005">
                  <a:moveTo>
                    <a:pt x="24238" y="0"/>
                  </a:moveTo>
                  <a:lnTo>
                    <a:pt x="1262767" y="0"/>
                  </a:lnTo>
                  <a:cubicBezTo>
                    <a:pt x="1276154" y="0"/>
                    <a:pt x="1287005" y="10852"/>
                    <a:pt x="1287005" y="24238"/>
                  </a:cubicBezTo>
                  <a:lnTo>
                    <a:pt x="1287005" y="1499434"/>
                  </a:lnTo>
                  <a:cubicBezTo>
                    <a:pt x="1287005" y="1512820"/>
                    <a:pt x="1276154" y="1523672"/>
                    <a:pt x="1262767" y="1523672"/>
                  </a:cubicBezTo>
                  <a:lnTo>
                    <a:pt x="24238" y="1523672"/>
                  </a:lnTo>
                  <a:cubicBezTo>
                    <a:pt x="10852" y="1523672"/>
                    <a:pt x="0" y="1512820"/>
                    <a:pt x="0" y="1499434"/>
                  </a:cubicBezTo>
                  <a:lnTo>
                    <a:pt x="0" y="24238"/>
                  </a:lnTo>
                  <a:cubicBezTo>
                    <a:pt x="0" y="10852"/>
                    <a:pt x="10852" y="0"/>
                    <a:pt x="24238" y="0"/>
                  </a:cubicBezTo>
                  <a:close/>
                </a:path>
              </a:pathLst>
            </a:custGeom>
            <a:blipFill>
              <a:blip r:embed="rId4"/>
              <a:stretch>
                <a:fillRect l="0" t="-13465" r="0" b="-13465"/>
              </a:stretch>
            </a:blipFill>
          </p:spPr>
        </p:sp>
      </p:grpSp>
      <p:grpSp>
        <p:nvGrpSpPr>
          <p:cNvPr name="Group 17" id="17"/>
          <p:cNvGrpSpPr/>
          <p:nvPr/>
        </p:nvGrpSpPr>
        <p:grpSpPr>
          <a:xfrm rot="0">
            <a:off x="9296400" y="1543685"/>
            <a:ext cx="7803998" cy="1294130"/>
            <a:chOff x="0" y="0"/>
            <a:chExt cx="10405330" cy="1725506"/>
          </a:xfrm>
        </p:grpSpPr>
        <p:sp>
          <p:nvSpPr>
            <p:cNvPr name="TextBox 18" id="18"/>
            <p:cNvSpPr txBox="true"/>
            <p:nvPr/>
          </p:nvSpPr>
          <p:spPr>
            <a:xfrm rot="0">
              <a:off x="0" y="-28575"/>
              <a:ext cx="10405330" cy="638175"/>
            </a:xfrm>
            <a:prstGeom prst="rect">
              <a:avLst/>
            </a:prstGeom>
          </p:spPr>
          <p:txBody>
            <a:bodyPr anchor="t" rtlCol="false" tIns="0" lIns="0" bIns="0" rIns="0">
              <a:spAutoFit/>
            </a:bodyPr>
            <a:lstStyle/>
            <a:p>
              <a:pPr algn="l" marL="0" indent="0" lvl="0">
                <a:lnSpc>
                  <a:spcPts val="3900"/>
                </a:lnSpc>
                <a:spcBef>
                  <a:spcPct val="0"/>
                </a:spcBef>
              </a:pPr>
              <a:r>
                <a:rPr lang="en-US" sz="3000">
                  <a:solidFill>
                    <a:srgbClr val="FFFFFF"/>
                  </a:solidFill>
                  <a:latin typeface="Cooper BT Light"/>
                  <a:ea typeface="Cooper BT Light"/>
                  <a:cs typeface="Cooper BT Light"/>
                  <a:sym typeface="Cooper BT Light"/>
                </a:rPr>
                <a:t>Receipt OCR (Optical Character Recognition)</a:t>
              </a:r>
            </a:p>
          </p:txBody>
        </p:sp>
        <p:sp>
          <p:nvSpPr>
            <p:cNvPr name="TextBox 19" id="19"/>
            <p:cNvSpPr txBox="true"/>
            <p:nvPr/>
          </p:nvSpPr>
          <p:spPr>
            <a:xfrm rot="0">
              <a:off x="0" y="686646"/>
              <a:ext cx="10405330" cy="1038860"/>
            </a:xfrm>
            <a:prstGeom prst="rect">
              <a:avLst/>
            </a:prstGeom>
          </p:spPr>
          <p:txBody>
            <a:bodyPr anchor="t" rtlCol="false" tIns="0" lIns="0" bIns="0" rIns="0">
              <a:spAutoFit/>
            </a:bodyPr>
            <a:lstStyle/>
            <a:p>
              <a:pPr algn="l" marL="0" indent="0" lvl="0">
                <a:lnSpc>
                  <a:spcPts val="3120"/>
                </a:lnSpc>
                <a:spcBef>
                  <a:spcPct val="0"/>
                </a:spcBef>
              </a:pPr>
              <a:r>
                <a:rPr lang="en-US" sz="2400" spc="-48">
                  <a:solidFill>
                    <a:srgbClr val="FFFFFF"/>
                  </a:solidFill>
                  <a:latin typeface="TT Interphases"/>
                  <a:ea typeface="TT Interphases"/>
                  <a:cs typeface="TT Interphases"/>
                  <a:sym typeface="TT Interphases"/>
                </a:rPr>
                <a:t>Automatically reads and extracts data from receipts (prices, product name, and vendor) that speeds up food cost entry</a:t>
              </a:r>
            </a:p>
          </p:txBody>
        </p:sp>
      </p:grpSp>
      <p:grpSp>
        <p:nvGrpSpPr>
          <p:cNvPr name="Group 20" id="20"/>
          <p:cNvGrpSpPr/>
          <p:nvPr/>
        </p:nvGrpSpPr>
        <p:grpSpPr>
          <a:xfrm rot="0">
            <a:off x="9296400" y="3313448"/>
            <a:ext cx="7803998" cy="1684655"/>
            <a:chOff x="0" y="0"/>
            <a:chExt cx="10405330" cy="2246206"/>
          </a:xfrm>
        </p:grpSpPr>
        <p:sp>
          <p:nvSpPr>
            <p:cNvPr name="TextBox 21" id="21"/>
            <p:cNvSpPr txBox="true"/>
            <p:nvPr/>
          </p:nvSpPr>
          <p:spPr>
            <a:xfrm rot="0">
              <a:off x="0" y="-28575"/>
              <a:ext cx="10405330" cy="638175"/>
            </a:xfrm>
            <a:prstGeom prst="rect">
              <a:avLst/>
            </a:prstGeom>
          </p:spPr>
          <p:txBody>
            <a:bodyPr anchor="t" rtlCol="false" tIns="0" lIns="0" bIns="0" rIns="0">
              <a:spAutoFit/>
            </a:bodyPr>
            <a:lstStyle/>
            <a:p>
              <a:pPr algn="l" marL="0" indent="0" lvl="0">
                <a:lnSpc>
                  <a:spcPts val="3900"/>
                </a:lnSpc>
                <a:spcBef>
                  <a:spcPct val="0"/>
                </a:spcBef>
              </a:pPr>
              <a:r>
                <a:rPr lang="en-US" sz="3000">
                  <a:solidFill>
                    <a:srgbClr val="FFFFFF"/>
                  </a:solidFill>
                  <a:latin typeface="Cooper BT Light"/>
                  <a:ea typeface="Cooper BT Light"/>
                  <a:cs typeface="Cooper BT Light"/>
                  <a:sym typeface="Cooper BT Light"/>
                </a:rPr>
                <a:t>PDF/Email Reporting</a:t>
              </a:r>
            </a:p>
          </p:txBody>
        </p:sp>
        <p:sp>
          <p:nvSpPr>
            <p:cNvPr name="TextBox 22" id="22"/>
            <p:cNvSpPr txBox="true"/>
            <p:nvPr/>
          </p:nvSpPr>
          <p:spPr>
            <a:xfrm rot="0">
              <a:off x="0" y="686646"/>
              <a:ext cx="10405330" cy="1559560"/>
            </a:xfrm>
            <a:prstGeom prst="rect">
              <a:avLst/>
            </a:prstGeom>
          </p:spPr>
          <p:txBody>
            <a:bodyPr anchor="t" rtlCol="false" tIns="0" lIns="0" bIns="0" rIns="0">
              <a:spAutoFit/>
            </a:bodyPr>
            <a:lstStyle/>
            <a:p>
              <a:pPr algn="l" marL="0" indent="0" lvl="0">
                <a:lnSpc>
                  <a:spcPts val="3120"/>
                </a:lnSpc>
                <a:spcBef>
                  <a:spcPct val="0"/>
                </a:spcBef>
              </a:pPr>
              <a:r>
                <a:rPr lang="en-US" sz="2400" spc="-48">
                  <a:solidFill>
                    <a:srgbClr val="FFFFFF"/>
                  </a:solidFill>
                  <a:latin typeface="TT Interphases"/>
                  <a:ea typeface="TT Interphases"/>
                  <a:cs typeface="TT Interphases"/>
                  <a:sym typeface="TT Interphases"/>
                </a:rPr>
                <a:t>System automatically generates PDF report with ingredient breakdowns, total recipe COGS,  suggested menu pricing, and profit margin.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296400" y="5143500"/>
            <a:ext cx="5448300" cy="1457325"/>
          </a:xfrm>
          <a:prstGeom prst="rect">
            <a:avLst/>
          </a:prstGeom>
        </p:spPr>
        <p:txBody>
          <a:bodyPr anchor="t" rtlCol="false" tIns="0" lIns="0" bIns="0" rIns="0">
            <a:spAutoFit/>
          </a:bodyPr>
          <a:lstStyle/>
          <a:p>
            <a:pPr algn="just" marL="0" indent="0" lvl="0">
              <a:lnSpc>
                <a:spcPts val="11519"/>
              </a:lnSpc>
            </a:pPr>
            <a:r>
              <a:rPr lang="en-US" sz="9600" spc="-480">
                <a:solidFill>
                  <a:srgbClr val="000000"/>
                </a:solidFill>
                <a:latin typeface="Cooper BT Light"/>
                <a:ea typeface="Cooper BT Light"/>
                <a:cs typeface="Cooper BT Light"/>
                <a:sym typeface="Cooper BT Light"/>
              </a:rPr>
              <a:t>50M</a:t>
            </a:r>
          </a:p>
        </p:txBody>
      </p:sp>
      <p:sp>
        <p:nvSpPr>
          <p:cNvPr name="TextBox 3" id="3"/>
          <p:cNvSpPr txBox="true"/>
          <p:nvPr/>
        </p:nvSpPr>
        <p:spPr>
          <a:xfrm rot="0">
            <a:off x="2105025" y="5143500"/>
            <a:ext cx="5448300" cy="1457325"/>
          </a:xfrm>
          <a:prstGeom prst="rect">
            <a:avLst/>
          </a:prstGeom>
        </p:spPr>
        <p:txBody>
          <a:bodyPr anchor="t" rtlCol="false" tIns="0" lIns="0" bIns="0" rIns="0">
            <a:spAutoFit/>
          </a:bodyPr>
          <a:lstStyle/>
          <a:p>
            <a:pPr algn="l" marL="0" indent="0" lvl="0">
              <a:lnSpc>
                <a:spcPts val="11519"/>
              </a:lnSpc>
            </a:pPr>
            <a:r>
              <a:rPr lang="en-US" sz="9600" spc="-480">
                <a:solidFill>
                  <a:srgbClr val="000000"/>
                </a:solidFill>
                <a:latin typeface="Cooper BT Light"/>
                <a:ea typeface="Cooper BT Light"/>
                <a:cs typeface="Cooper BT Light"/>
                <a:sym typeface="Cooper BT Light"/>
              </a:rPr>
              <a:t>$100B</a:t>
            </a:r>
          </a:p>
        </p:txBody>
      </p:sp>
      <p:sp>
        <p:nvSpPr>
          <p:cNvPr name="TextBox 4" id="4"/>
          <p:cNvSpPr txBox="true"/>
          <p:nvPr/>
        </p:nvSpPr>
        <p:spPr>
          <a:xfrm rot="0">
            <a:off x="666750" y="3369304"/>
            <a:ext cx="14077950" cy="398145"/>
          </a:xfrm>
          <a:prstGeom prst="rect">
            <a:avLst/>
          </a:prstGeom>
        </p:spPr>
        <p:txBody>
          <a:bodyPr anchor="t" rtlCol="false" tIns="0" lIns="0" bIns="0" rIns="0">
            <a:spAutoFit/>
          </a:bodyPr>
          <a:lstStyle/>
          <a:p>
            <a:pPr algn="l" marL="0" indent="0" lvl="0">
              <a:lnSpc>
                <a:spcPts val="3120"/>
              </a:lnSpc>
              <a:spcBef>
                <a:spcPct val="0"/>
              </a:spcBef>
            </a:pPr>
            <a:r>
              <a:rPr lang="en-US" b="true" sz="2400" spc="-48">
                <a:solidFill>
                  <a:srgbClr val="000000"/>
                </a:solidFill>
                <a:latin typeface="TT Interphases Bold"/>
                <a:ea typeface="TT Interphases Bold"/>
                <a:cs typeface="TT Interphases Bold"/>
                <a:sym typeface="TT Interphases Bold"/>
              </a:rPr>
              <a:t>The </a:t>
            </a:r>
            <a:r>
              <a:rPr lang="en-US" b="true" sz="2400" spc="-48" strike="noStrike" u="none">
                <a:solidFill>
                  <a:srgbClr val="000000"/>
                </a:solidFill>
                <a:latin typeface="TT Interphases Bold"/>
                <a:ea typeface="TT Interphases Bold"/>
                <a:cs typeface="TT Interphases Bold"/>
                <a:sym typeface="TT Interphases Bold"/>
              </a:rPr>
              <a:t>Culinary Creator Economy is RAPIDLY Growing</a:t>
            </a:r>
          </a:p>
        </p:txBody>
      </p:sp>
      <p:grpSp>
        <p:nvGrpSpPr>
          <p:cNvPr name="Group 5" id="5"/>
          <p:cNvGrpSpPr/>
          <p:nvPr/>
        </p:nvGrpSpPr>
        <p:grpSpPr>
          <a:xfrm rot="0">
            <a:off x="2105025" y="7829550"/>
            <a:ext cx="6886575" cy="1031014"/>
            <a:chOff x="0" y="0"/>
            <a:chExt cx="9182100" cy="1374685"/>
          </a:xfrm>
        </p:grpSpPr>
        <p:sp>
          <p:nvSpPr>
            <p:cNvPr name="TextBox 6" id="6"/>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000000"/>
                  </a:solidFill>
                  <a:latin typeface="Cooper BT Medium"/>
                  <a:ea typeface="Cooper BT Medium"/>
                  <a:cs typeface="Cooper BT Medium"/>
                  <a:sym typeface="Cooper BT Medium"/>
                </a:rPr>
                <a:t>Total Market Value</a:t>
              </a:r>
            </a:p>
          </p:txBody>
        </p:sp>
        <p:sp>
          <p:nvSpPr>
            <p:cNvPr name="TextBox 7" id="7"/>
            <p:cNvSpPr txBox="true"/>
            <p:nvPr/>
          </p:nvSpPr>
          <p:spPr>
            <a:xfrm rot="0">
              <a:off x="0" y="854346"/>
              <a:ext cx="9182100" cy="520339"/>
            </a:xfrm>
            <a:prstGeom prst="rect">
              <a:avLst/>
            </a:prstGeom>
          </p:spPr>
          <p:txBody>
            <a:bodyPr anchor="t" rtlCol="false" tIns="0" lIns="0" bIns="0" rIns="0">
              <a:spAutoFit/>
            </a:bodyPr>
            <a:lstStyle/>
            <a:p>
              <a:pPr algn="l" marL="0" indent="0" lvl="0">
                <a:lnSpc>
                  <a:spcPts val="3119"/>
                </a:lnSpc>
                <a:spcBef>
                  <a:spcPct val="0"/>
                </a:spcBef>
              </a:pPr>
              <a:r>
                <a:rPr lang="en-US" sz="2399" spc="-47" strike="noStrike" u="none">
                  <a:solidFill>
                    <a:srgbClr val="000000"/>
                  </a:solidFill>
                  <a:latin typeface="TT Interphases"/>
                  <a:ea typeface="TT Interphases"/>
                  <a:cs typeface="TT Interphases"/>
                  <a:sym typeface="TT Interphases"/>
                </a:rPr>
                <a:t>Represents the size of the market.</a:t>
              </a:r>
            </a:p>
          </p:txBody>
        </p:sp>
      </p:grpSp>
      <p:grpSp>
        <p:nvGrpSpPr>
          <p:cNvPr name="Group 8" id="8"/>
          <p:cNvGrpSpPr/>
          <p:nvPr/>
        </p:nvGrpSpPr>
        <p:grpSpPr>
          <a:xfrm rot="0">
            <a:off x="9296400" y="7829550"/>
            <a:ext cx="6886575" cy="1031014"/>
            <a:chOff x="0" y="0"/>
            <a:chExt cx="9182100" cy="1374685"/>
          </a:xfrm>
        </p:grpSpPr>
        <p:sp>
          <p:nvSpPr>
            <p:cNvPr name="TextBox 9" id="9"/>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000000"/>
                  </a:solidFill>
                  <a:latin typeface="Cooper BT Medium"/>
                  <a:ea typeface="Cooper BT Medium"/>
                  <a:cs typeface="Cooper BT Medium"/>
                  <a:sym typeface="Cooper BT Medium"/>
                </a:rPr>
                <a:t>Potential Users</a:t>
              </a:r>
            </a:p>
          </p:txBody>
        </p:sp>
        <p:sp>
          <p:nvSpPr>
            <p:cNvPr name="TextBox 10" id="10"/>
            <p:cNvSpPr txBox="true"/>
            <p:nvPr/>
          </p:nvSpPr>
          <p:spPr>
            <a:xfrm rot="0">
              <a:off x="0" y="854346"/>
              <a:ext cx="9182100" cy="520339"/>
            </a:xfrm>
            <a:prstGeom prst="rect">
              <a:avLst/>
            </a:prstGeom>
          </p:spPr>
          <p:txBody>
            <a:bodyPr anchor="t" rtlCol="false" tIns="0" lIns="0" bIns="0" rIns="0">
              <a:spAutoFit/>
            </a:bodyPr>
            <a:lstStyle/>
            <a:p>
              <a:pPr algn="l" marL="0" indent="0" lvl="0">
                <a:lnSpc>
                  <a:spcPts val="3119"/>
                </a:lnSpc>
                <a:spcBef>
                  <a:spcPct val="0"/>
                </a:spcBef>
              </a:pPr>
              <a:r>
                <a:rPr lang="en-US" sz="2399" spc="-47" strike="noStrike" u="none">
                  <a:solidFill>
                    <a:srgbClr val="000000"/>
                  </a:solidFill>
                  <a:latin typeface="TT Interphases"/>
                  <a:ea typeface="TT Interphases"/>
                  <a:cs typeface="TT Interphases"/>
                  <a:sym typeface="TT Interphases"/>
                </a:rPr>
                <a:t>Number of aspiring food entrepreneurs available.</a:t>
              </a:r>
            </a:p>
          </p:txBody>
        </p:sp>
      </p:grpSp>
      <p:sp>
        <p:nvSpPr>
          <p:cNvPr name="Freeform 11" id="11"/>
          <p:cNvSpPr/>
          <p:nvPr/>
        </p:nvSpPr>
        <p:spPr>
          <a:xfrm flipH="true" flipV="false" rot="0">
            <a:off x="16850868" y="692349"/>
            <a:ext cx="1876083" cy="1497455"/>
          </a:xfrm>
          <a:custGeom>
            <a:avLst/>
            <a:gdLst/>
            <a:ahLst/>
            <a:cxnLst/>
            <a:rect r="r" b="b" t="t" l="l"/>
            <a:pathLst>
              <a:path h="1497455" w="1876083">
                <a:moveTo>
                  <a:pt x="1876083" y="0"/>
                </a:moveTo>
                <a:lnTo>
                  <a:pt x="0" y="0"/>
                </a:lnTo>
                <a:lnTo>
                  <a:pt x="0" y="1497455"/>
                </a:lnTo>
                <a:lnTo>
                  <a:pt x="1876083" y="1497455"/>
                </a:lnTo>
                <a:lnTo>
                  <a:pt x="187608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true" flipV="false" rot="9828254">
            <a:off x="-696564" y="7785594"/>
            <a:ext cx="1876083" cy="1497455"/>
          </a:xfrm>
          <a:custGeom>
            <a:avLst/>
            <a:gdLst/>
            <a:ahLst/>
            <a:cxnLst/>
            <a:rect r="r" b="b" t="t" l="l"/>
            <a:pathLst>
              <a:path h="1497455" w="1876083">
                <a:moveTo>
                  <a:pt x="1876083" y="0"/>
                </a:moveTo>
                <a:lnTo>
                  <a:pt x="0" y="0"/>
                </a:lnTo>
                <a:lnTo>
                  <a:pt x="0" y="1497456"/>
                </a:lnTo>
                <a:lnTo>
                  <a:pt x="1876083" y="1497456"/>
                </a:lnTo>
                <a:lnTo>
                  <a:pt x="187608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3" id="13"/>
          <p:cNvSpPr txBox="true"/>
          <p:nvPr/>
        </p:nvSpPr>
        <p:spPr>
          <a:xfrm rot="0">
            <a:off x="666750" y="152400"/>
            <a:ext cx="10209961" cy="3048000"/>
          </a:xfrm>
          <a:prstGeom prst="rect">
            <a:avLst/>
          </a:prstGeom>
        </p:spPr>
        <p:txBody>
          <a:bodyPr anchor="t" rtlCol="false" tIns="0" lIns="0" bIns="0" rIns="0">
            <a:spAutoFit/>
          </a:bodyPr>
          <a:lstStyle/>
          <a:p>
            <a:pPr algn="l" marL="0" indent="0" lvl="0">
              <a:lnSpc>
                <a:spcPts val="7875"/>
              </a:lnSpc>
            </a:pPr>
            <a:r>
              <a:rPr lang="en-US" b="true" sz="7875">
                <a:solidFill>
                  <a:srgbClr val="000000"/>
                </a:solidFill>
                <a:latin typeface="Proxima Nova Condensed Bold"/>
                <a:ea typeface="Proxima Nova Condensed Bold"/>
                <a:cs typeface="Proxima Nova Condensed Bold"/>
                <a:sym typeface="Proxima Nova Condensed Bold"/>
              </a:rPr>
              <a:t>Untapped Potential in Food Entrepreneurship</a:t>
            </a:r>
          </a:p>
          <a:p>
            <a:pPr algn="l" marL="0" indent="0" lvl="0">
              <a:lnSpc>
                <a:spcPts val="7875"/>
              </a:lnSpc>
            </a:pPr>
            <a:r>
              <a:rPr lang="en-US" b="true" sz="7875">
                <a:solidFill>
                  <a:srgbClr val="000000"/>
                </a:solidFill>
                <a:latin typeface="Proxima Nova Condensed Bold"/>
                <a:ea typeface="Proxima Nova Condensed Bold"/>
                <a:cs typeface="Proxima Nova Condensed Bold"/>
                <a:sym typeface="Proxima Nova Condensed Bold"/>
              </a:rPr>
              <a:t>Market Opportunity</a:t>
            </a:r>
          </a:p>
        </p:txBody>
      </p:sp>
      <p:sp>
        <p:nvSpPr>
          <p:cNvPr name="TextBox 14" id="14"/>
          <p:cNvSpPr txBox="true"/>
          <p:nvPr/>
        </p:nvSpPr>
        <p:spPr>
          <a:xfrm rot="0">
            <a:off x="666750" y="3738874"/>
            <a:ext cx="8461070" cy="687705"/>
          </a:xfrm>
          <a:prstGeom prst="rect">
            <a:avLst/>
          </a:prstGeom>
        </p:spPr>
        <p:txBody>
          <a:bodyPr anchor="t" rtlCol="false" tIns="0" lIns="0" bIns="0" rIns="0">
            <a:spAutoFit/>
          </a:bodyPr>
          <a:lstStyle/>
          <a:p>
            <a:pPr algn="l" marL="0" indent="0" lvl="0">
              <a:lnSpc>
                <a:spcPts val="2730"/>
              </a:lnSpc>
            </a:pPr>
            <a:r>
              <a:rPr lang="en-US" sz="2100" spc="-115">
                <a:solidFill>
                  <a:srgbClr val="000000"/>
                </a:solidFill>
                <a:latin typeface="Work Sans"/>
                <a:ea typeface="Work Sans"/>
                <a:cs typeface="Work Sans"/>
                <a:sym typeface="Work Sans"/>
              </a:rPr>
              <a:t>Yet, </a:t>
            </a:r>
            <a:r>
              <a:rPr lang="en-US" sz="2100" spc="-115">
                <a:solidFill>
                  <a:srgbClr val="000000"/>
                </a:solidFill>
                <a:latin typeface="Work Sans"/>
                <a:ea typeface="Work Sans"/>
                <a:cs typeface="Work Sans"/>
                <a:sym typeface="Work Sans"/>
              </a:rPr>
              <a:t>many aspiring food entrepreneurs lack the necessary tools to manage costs effectively. Our solution fills this critical gap.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D300"/>
        </a:solidFill>
      </p:bgPr>
    </p:bg>
    <p:spTree>
      <p:nvGrpSpPr>
        <p:cNvPr id="1" name=""/>
        <p:cNvGrpSpPr/>
        <p:nvPr/>
      </p:nvGrpSpPr>
      <p:grpSpPr>
        <a:xfrm>
          <a:off x="0" y="0"/>
          <a:ext cx="0" cy="0"/>
          <a:chOff x="0" y="0"/>
          <a:chExt cx="0" cy="0"/>
        </a:xfrm>
      </p:grpSpPr>
      <p:grpSp>
        <p:nvGrpSpPr>
          <p:cNvPr name="Group 2" id="2"/>
          <p:cNvGrpSpPr/>
          <p:nvPr/>
        </p:nvGrpSpPr>
        <p:grpSpPr>
          <a:xfrm rot="0">
            <a:off x="8473009" y="666750"/>
            <a:ext cx="9148241" cy="8953500"/>
            <a:chOff x="0" y="0"/>
            <a:chExt cx="2409413" cy="2358123"/>
          </a:xfrm>
        </p:grpSpPr>
        <p:sp>
          <p:nvSpPr>
            <p:cNvPr name="Freeform 3" id="3"/>
            <p:cNvSpPr/>
            <p:nvPr/>
          </p:nvSpPr>
          <p:spPr>
            <a:xfrm flipH="false" flipV="false" rot="0">
              <a:off x="0" y="0"/>
              <a:ext cx="2409413" cy="2358124"/>
            </a:xfrm>
            <a:custGeom>
              <a:avLst/>
              <a:gdLst/>
              <a:ahLst/>
              <a:cxnLst/>
              <a:rect r="r" b="b" t="t" l="l"/>
              <a:pathLst>
                <a:path h="2358124" w="2409413">
                  <a:moveTo>
                    <a:pt x="33851" y="0"/>
                  </a:moveTo>
                  <a:lnTo>
                    <a:pt x="2375562" y="0"/>
                  </a:lnTo>
                  <a:cubicBezTo>
                    <a:pt x="2394258" y="0"/>
                    <a:pt x="2409413" y="15156"/>
                    <a:pt x="2409413" y="33851"/>
                  </a:cubicBezTo>
                  <a:lnTo>
                    <a:pt x="2409413" y="2324272"/>
                  </a:lnTo>
                  <a:cubicBezTo>
                    <a:pt x="2409413" y="2342968"/>
                    <a:pt x="2394258" y="2358124"/>
                    <a:pt x="2375562" y="2358124"/>
                  </a:cubicBezTo>
                  <a:lnTo>
                    <a:pt x="33851" y="2358124"/>
                  </a:lnTo>
                  <a:cubicBezTo>
                    <a:pt x="24873" y="2358124"/>
                    <a:pt x="16263" y="2354557"/>
                    <a:pt x="9915" y="2348209"/>
                  </a:cubicBezTo>
                  <a:cubicBezTo>
                    <a:pt x="3566" y="2341861"/>
                    <a:pt x="0" y="2333250"/>
                    <a:pt x="0" y="2324272"/>
                  </a:cubicBezTo>
                  <a:lnTo>
                    <a:pt x="0" y="33851"/>
                  </a:lnTo>
                  <a:cubicBezTo>
                    <a:pt x="0" y="15156"/>
                    <a:pt x="15156" y="0"/>
                    <a:pt x="33851" y="0"/>
                  </a:cubicBezTo>
                  <a:close/>
                </a:path>
              </a:pathLst>
            </a:custGeom>
            <a:solidFill>
              <a:srgbClr val="000000"/>
            </a:solidFill>
            <a:ln w="28575" cap="rnd">
              <a:solidFill>
                <a:srgbClr val="000000"/>
              </a:solidFill>
              <a:prstDash val="solid"/>
              <a:round/>
            </a:ln>
          </p:spPr>
        </p:sp>
        <p:sp>
          <p:nvSpPr>
            <p:cNvPr name="TextBox 4" id="4"/>
            <p:cNvSpPr txBox="true"/>
            <p:nvPr/>
          </p:nvSpPr>
          <p:spPr>
            <a:xfrm>
              <a:off x="0" y="-28575"/>
              <a:ext cx="2409413" cy="2386698"/>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666750" y="666750"/>
            <a:ext cx="6886575" cy="3438526"/>
            <a:chOff x="0" y="0"/>
            <a:chExt cx="9182100" cy="4584701"/>
          </a:xfrm>
        </p:grpSpPr>
        <p:sp>
          <p:nvSpPr>
            <p:cNvPr name="TextBox 6" id="6"/>
            <p:cNvSpPr txBox="true"/>
            <p:nvPr/>
          </p:nvSpPr>
          <p:spPr>
            <a:xfrm rot="0">
              <a:off x="0" y="3545841"/>
              <a:ext cx="9182100" cy="10388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FFFFFF"/>
                  </a:solidFill>
                  <a:latin typeface="TT Interphases Bold"/>
                  <a:ea typeface="TT Interphases Bold"/>
                  <a:cs typeface="TT Interphases Bold"/>
                  <a:sym typeface="TT Interphases Bold"/>
                </a:rPr>
                <a:t>Unlocking potential through flexible pricing options</a:t>
              </a:r>
            </a:p>
          </p:txBody>
        </p:sp>
        <p:sp>
          <p:nvSpPr>
            <p:cNvPr name="TextBox 7" id="7"/>
            <p:cNvSpPr txBox="true"/>
            <p:nvPr/>
          </p:nvSpPr>
          <p:spPr>
            <a:xfrm rot="0">
              <a:off x="0" y="171450"/>
              <a:ext cx="9182100" cy="2986616"/>
            </a:xfrm>
            <a:prstGeom prst="rect">
              <a:avLst/>
            </a:prstGeom>
          </p:spPr>
          <p:txBody>
            <a:bodyPr anchor="t" rtlCol="false" tIns="0" lIns="0" bIns="0" rIns="0">
              <a:spAutoFit/>
            </a:bodyPr>
            <a:lstStyle/>
            <a:p>
              <a:pPr algn="l" marL="0" indent="0" lvl="0">
                <a:lnSpc>
                  <a:spcPts val="8499"/>
                </a:lnSpc>
                <a:spcBef>
                  <a:spcPct val="0"/>
                </a:spcBef>
              </a:pPr>
              <a:r>
                <a:rPr lang="en-US" sz="8499" spc="-169" strike="noStrike" u="none">
                  <a:solidFill>
                    <a:srgbClr val="000000"/>
                  </a:solidFill>
                  <a:latin typeface="Cooper BT Light"/>
                  <a:ea typeface="Cooper BT Light"/>
                  <a:cs typeface="Cooper BT Light"/>
                  <a:sym typeface="Cooper BT Light"/>
                </a:rPr>
                <a:t>Business Model</a:t>
              </a:r>
            </a:p>
          </p:txBody>
        </p:sp>
      </p:grpSp>
      <p:grpSp>
        <p:nvGrpSpPr>
          <p:cNvPr name="Group 8" id="8"/>
          <p:cNvGrpSpPr/>
          <p:nvPr/>
        </p:nvGrpSpPr>
        <p:grpSpPr>
          <a:xfrm rot="0">
            <a:off x="9296400" y="3354706"/>
            <a:ext cx="6886575" cy="903605"/>
            <a:chOff x="0" y="0"/>
            <a:chExt cx="9182100" cy="1204806"/>
          </a:xfrm>
        </p:grpSpPr>
        <p:sp>
          <p:nvSpPr>
            <p:cNvPr name="TextBox 9" id="9"/>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FFFFFF"/>
                  </a:solidFill>
                  <a:latin typeface="Cooper BT Light"/>
                  <a:ea typeface="Cooper BT Light"/>
                  <a:cs typeface="Cooper BT Light"/>
                  <a:sym typeface="Cooper BT Light"/>
                </a:rPr>
                <a:t>Premium Features</a:t>
              </a:r>
            </a:p>
          </p:txBody>
        </p:sp>
        <p:sp>
          <p:nvSpPr>
            <p:cNvPr name="TextBox 10" id="10"/>
            <p:cNvSpPr txBox="true"/>
            <p:nvPr/>
          </p:nvSpPr>
          <p:spPr>
            <a:xfrm rot="0">
              <a:off x="0" y="686646"/>
              <a:ext cx="9182100" cy="518160"/>
            </a:xfrm>
            <a:prstGeom prst="rect">
              <a:avLst/>
            </a:prstGeom>
          </p:spPr>
          <p:txBody>
            <a:bodyPr anchor="t" rtlCol="false" tIns="0" lIns="0" bIns="0" rIns="0">
              <a:spAutoFit/>
            </a:bodyPr>
            <a:lstStyle/>
            <a:p>
              <a:pPr algn="l" marL="0" indent="0" lvl="0">
                <a:lnSpc>
                  <a:spcPts val="3120"/>
                </a:lnSpc>
                <a:spcBef>
                  <a:spcPct val="0"/>
                </a:spcBef>
              </a:pPr>
              <a:r>
                <a:rPr lang="en-US" sz="2400" spc="-48" strike="noStrike" u="none">
                  <a:solidFill>
                    <a:srgbClr val="FFFFFF"/>
                  </a:solidFill>
                  <a:latin typeface="TT Interphases"/>
                  <a:ea typeface="TT Interphases"/>
                  <a:cs typeface="TT Interphases"/>
                  <a:sym typeface="TT Interphases"/>
                </a:rPr>
                <a:t>Advanced tools for enhanced profitability and insights</a:t>
              </a:r>
            </a:p>
          </p:txBody>
        </p:sp>
      </p:grpSp>
      <p:grpSp>
        <p:nvGrpSpPr>
          <p:cNvPr name="Group 11" id="11"/>
          <p:cNvGrpSpPr/>
          <p:nvPr/>
        </p:nvGrpSpPr>
        <p:grpSpPr>
          <a:xfrm rot="0">
            <a:off x="9296400" y="5144135"/>
            <a:ext cx="6886575" cy="903605"/>
            <a:chOff x="0" y="0"/>
            <a:chExt cx="9182100" cy="1204806"/>
          </a:xfrm>
        </p:grpSpPr>
        <p:sp>
          <p:nvSpPr>
            <p:cNvPr name="TextBox 12" id="12"/>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FFFFFF"/>
                  </a:solidFill>
                  <a:latin typeface="Cooper BT Light"/>
                  <a:ea typeface="Cooper BT Light"/>
                  <a:cs typeface="Cooper BT Light"/>
                  <a:sym typeface="Cooper BT Light"/>
                </a:rPr>
                <a:t>Enterprise Solutions</a:t>
              </a:r>
            </a:p>
          </p:txBody>
        </p:sp>
        <p:sp>
          <p:nvSpPr>
            <p:cNvPr name="TextBox 13" id="13"/>
            <p:cNvSpPr txBox="true"/>
            <p:nvPr/>
          </p:nvSpPr>
          <p:spPr>
            <a:xfrm rot="0">
              <a:off x="0" y="686646"/>
              <a:ext cx="9182100" cy="518160"/>
            </a:xfrm>
            <a:prstGeom prst="rect">
              <a:avLst/>
            </a:prstGeom>
          </p:spPr>
          <p:txBody>
            <a:bodyPr anchor="t" rtlCol="false" tIns="0" lIns="0" bIns="0" rIns="0">
              <a:spAutoFit/>
            </a:bodyPr>
            <a:lstStyle/>
            <a:p>
              <a:pPr algn="l" marL="0" indent="0" lvl="0">
                <a:lnSpc>
                  <a:spcPts val="3120"/>
                </a:lnSpc>
                <a:spcBef>
                  <a:spcPct val="0"/>
                </a:spcBef>
              </a:pPr>
              <a:r>
                <a:rPr lang="en-US" sz="2400" spc="-48" strike="noStrike" u="none">
                  <a:solidFill>
                    <a:srgbClr val="FFFFFF"/>
                  </a:solidFill>
                  <a:latin typeface="TT Interphases"/>
                  <a:ea typeface="TT Interphases"/>
                  <a:cs typeface="TT Interphases"/>
                  <a:sym typeface="TT Interphases"/>
                </a:rPr>
                <a:t>Customized packages for larger food businesses</a:t>
              </a:r>
            </a:p>
          </p:txBody>
        </p:sp>
      </p:grpSp>
      <p:grpSp>
        <p:nvGrpSpPr>
          <p:cNvPr name="Group 14" id="14"/>
          <p:cNvGrpSpPr/>
          <p:nvPr/>
        </p:nvGrpSpPr>
        <p:grpSpPr>
          <a:xfrm rot="0">
            <a:off x="9296400" y="6933565"/>
            <a:ext cx="6886575" cy="903605"/>
            <a:chOff x="0" y="0"/>
            <a:chExt cx="9182100" cy="1204806"/>
          </a:xfrm>
        </p:grpSpPr>
        <p:sp>
          <p:nvSpPr>
            <p:cNvPr name="TextBox 15" id="15"/>
            <p:cNvSpPr txBox="true"/>
            <p:nvPr/>
          </p:nvSpPr>
          <p:spPr>
            <a:xfrm rot="0">
              <a:off x="0" y="-28575"/>
              <a:ext cx="9182100" cy="638175"/>
            </a:xfrm>
            <a:prstGeom prst="rect">
              <a:avLst/>
            </a:prstGeom>
          </p:spPr>
          <p:txBody>
            <a:bodyPr anchor="t" rtlCol="false" tIns="0" lIns="0" bIns="0" rIns="0">
              <a:spAutoFit/>
            </a:bodyPr>
            <a:lstStyle/>
            <a:p>
              <a:pPr algn="l" marL="0" indent="0" lvl="0">
                <a:lnSpc>
                  <a:spcPts val="3900"/>
                </a:lnSpc>
                <a:spcBef>
                  <a:spcPct val="0"/>
                </a:spcBef>
              </a:pPr>
              <a:r>
                <a:rPr lang="en-US" sz="3000" strike="noStrike" u="none">
                  <a:solidFill>
                    <a:srgbClr val="FFFFFF"/>
                  </a:solidFill>
                  <a:latin typeface="Cooper BT Light"/>
                  <a:ea typeface="Cooper BT Light"/>
                  <a:cs typeface="Cooper BT Light"/>
                  <a:sym typeface="Cooper BT Light"/>
                </a:rPr>
                <a:t>Subscription Tiers</a:t>
              </a:r>
            </a:p>
          </p:txBody>
        </p:sp>
        <p:sp>
          <p:nvSpPr>
            <p:cNvPr name="TextBox 16" id="16"/>
            <p:cNvSpPr txBox="true"/>
            <p:nvPr/>
          </p:nvSpPr>
          <p:spPr>
            <a:xfrm rot="0">
              <a:off x="0" y="686646"/>
              <a:ext cx="9182100" cy="518160"/>
            </a:xfrm>
            <a:prstGeom prst="rect">
              <a:avLst/>
            </a:prstGeom>
          </p:spPr>
          <p:txBody>
            <a:bodyPr anchor="t" rtlCol="false" tIns="0" lIns="0" bIns="0" rIns="0">
              <a:spAutoFit/>
            </a:bodyPr>
            <a:lstStyle/>
            <a:p>
              <a:pPr algn="l" marL="0" indent="0" lvl="0">
                <a:lnSpc>
                  <a:spcPts val="3120"/>
                </a:lnSpc>
                <a:spcBef>
                  <a:spcPct val="0"/>
                </a:spcBef>
              </a:pPr>
              <a:r>
                <a:rPr lang="en-US" sz="2400" spc="-48" strike="noStrike" u="none">
                  <a:solidFill>
                    <a:srgbClr val="FFFFFF"/>
                  </a:solidFill>
                  <a:latin typeface="TT Interphases"/>
                  <a:ea typeface="TT Interphases"/>
                  <a:cs typeface="TT Interphases"/>
                  <a:sym typeface="TT Interphases"/>
                </a:rPr>
                <a:t>Flexible plans to suit various culinary needs</a:t>
              </a:r>
            </a:p>
          </p:txBody>
        </p:sp>
      </p:grpSp>
      <p:sp>
        <p:nvSpPr>
          <p:cNvPr name="Freeform 17" id="17"/>
          <p:cNvSpPr/>
          <p:nvPr/>
        </p:nvSpPr>
        <p:spPr>
          <a:xfrm flipH="false" flipV="false" rot="0">
            <a:off x="-700808" y="6607510"/>
            <a:ext cx="3459016" cy="4461104"/>
          </a:xfrm>
          <a:custGeom>
            <a:avLst/>
            <a:gdLst/>
            <a:ahLst/>
            <a:cxnLst/>
            <a:rect r="r" b="b" t="t" l="l"/>
            <a:pathLst>
              <a:path h="4461104" w="3459016">
                <a:moveTo>
                  <a:pt x="0" y="0"/>
                </a:moveTo>
                <a:lnTo>
                  <a:pt x="3459016" y="0"/>
                </a:lnTo>
                <a:lnTo>
                  <a:pt x="3459016" y="4461105"/>
                </a:lnTo>
                <a:lnTo>
                  <a:pt x="0" y="44611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66750" y="6040333"/>
            <a:ext cx="19252148" cy="0"/>
          </a:xfrm>
          <a:prstGeom prst="line">
            <a:avLst/>
          </a:prstGeom>
          <a:ln cap="rnd" w="38100">
            <a:solidFill>
              <a:srgbClr val="000000"/>
            </a:solidFill>
            <a:prstDash val="sysDot"/>
            <a:headEnd type="none" len="sm" w="sm"/>
            <a:tailEnd type="none" len="sm" w="sm"/>
          </a:ln>
        </p:spPr>
      </p:sp>
      <p:grpSp>
        <p:nvGrpSpPr>
          <p:cNvPr name="Group 3" id="3"/>
          <p:cNvGrpSpPr/>
          <p:nvPr/>
        </p:nvGrpSpPr>
        <p:grpSpPr>
          <a:xfrm rot="0">
            <a:off x="666750" y="5875090"/>
            <a:ext cx="330485" cy="33048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l" marL="0" indent="0" lvl="0">
                <a:lnSpc>
                  <a:spcPts val="4199"/>
                </a:lnSpc>
              </a:pPr>
            </a:p>
          </p:txBody>
        </p:sp>
      </p:grpSp>
      <p:grpSp>
        <p:nvGrpSpPr>
          <p:cNvPr name="Group 6" id="6"/>
          <p:cNvGrpSpPr/>
          <p:nvPr/>
        </p:nvGrpSpPr>
        <p:grpSpPr>
          <a:xfrm rot="0">
            <a:off x="6424013" y="5875090"/>
            <a:ext cx="330485" cy="33048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l" marL="0" indent="0" lvl="0">
                <a:lnSpc>
                  <a:spcPts val="4199"/>
                </a:lnSpc>
                <a:spcBef>
                  <a:spcPct val="0"/>
                </a:spcBef>
              </a:pPr>
            </a:p>
          </p:txBody>
        </p:sp>
      </p:grpSp>
      <p:grpSp>
        <p:nvGrpSpPr>
          <p:cNvPr name="Group 9" id="9"/>
          <p:cNvGrpSpPr/>
          <p:nvPr/>
        </p:nvGrpSpPr>
        <p:grpSpPr>
          <a:xfrm rot="0">
            <a:off x="12195287" y="5875090"/>
            <a:ext cx="330485" cy="33048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l" marL="0" indent="0" lvl="0">
                <a:lnSpc>
                  <a:spcPts val="4199"/>
                </a:lnSpc>
                <a:spcBef>
                  <a:spcPct val="0"/>
                </a:spcBef>
              </a:pPr>
            </a:p>
          </p:txBody>
        </p:sp>
      </p:grpSp>
      <p:grpSp>
        <p:nvGrpSpPr>
          <p:cNvPr name="Group 12" id="12"/>
          <p:cNvGrpSpPr/>
          <p:nvPr/>
        </p:nvGrpSpPr>
        <p:grpSpPr>
          <a:xfrm rot="0">
            <a:off x="666750" y="669931"/>
            <a:ext cx="14077950" cy="2211726"/>
            <a:chOff x="0" y="0"/>
            <a:chExt cx="18770600" cy="2948968"/>
          </a:xfrm>
        </p:grpSpPr>
        <p:sp>
          <p:nvSpPr>
            <p:cNvPr name="TextBox 13" id="13"/>
            <p:cNvSpPr txBox="true"/>
            <p:nvPr/>
          </p:nvSpPr>
          <p:spPr>
            <a:xfrm rot="0">
              <a:off x="0" y="171450"/>
              <a:ext cx="18770600" cy="1551508"/>
            </a:xfrm>
            <a:prstGeom prst="rect">
              <a:avLst/>
            </a:prstGeom>
          </p:spPr>
          <p:txBody>
            <a:bodyPr anchor="t" rtlCol="false" tIns="0" lIns="0" bIns="0" rIns="0">
              <a:spAutoFit/>
            </a:bodyPr>
            <a:lstStyle/>
            <a:p>
              <a:pPr algn="l" marL="0" indent="0" lvl="0">
                <a:lnSpc>
                  <a:spcPts val="8499"/>
                </a:lnSpc>
                <a:spcBef>
                  <a:spcPct val="0"/>
                </a:spcBef>
              </a:pPr>
              <a:r>
                <a:rPr lang="en-US" b="true" sz="8499" strike="noStrike" u="none">
                  <a:solidFill>
                    <a:srgbClr val="000000"/>
                  </a:solidFill>
                  <a:latin typeface="Proxima Nova Condensed Bold"/>
                  <a:ea typeface="Proxima Nova Condensed Bold"/>
                  <a:cs typeface="Proxima Nova Condensed Bold"/>
                  <a:sym typeface="Proxima Nova Condensed Bold"/>
                </a:rPr>
                <a:t>Roadmap</a:t>
              </a:r>
            </a:p>
          </p:txBody>
        </p:sp>
        <p:sp>
          <p:nvSpPr>
            <p:cNvPr name="TextBox 14" id="14"/>
            <p:cNvSpPr txBox="true"/>
            <p:nvPr/>
          </p:nvSpPr>
          <p:spPr>
            <a:xfrm rot="0">
              <a:off x="0" y="2326244"/>
              <a:ext cx="14935200" cy="622724"/>
            </a:xfrm>
            <a:prstGeom prst="rect">
              <a:avLst/>
            </a:prstGeom>
          </p:spPr>
          <p:txBody>
            <a:bodyPr anchor="t" rtlCol="false" tIns="0" lIns="0" bIns="0" rIns="0">
              <a:spAutoFit/>
            </a:bodyPr>
            <a:lstStyle/>
            <a:p>
              <a:pPr algn="l" marL="0" indent="0" lvl="0">
                <a:lnSpc>
                  <a:spcPts val="3919"/>
                </a:lnSpc>
                <a:spcBef>
                  <a:spcPct val="0"/>
                </a:spcBef>
              </a:pPr>
              <a:r>
                <a:rPr lang="en-US" sz="2799" u="none">
                  <a:solidFill>
                    <a:srgbClr val="000000"/>
                  </a:solidFill>
                  <a:latin typeface="Touvlo"/>
                  <a:ea typeface="Touvlo"/>
                  <a:cs typeface="Touvlo"/>
                  <a:sym typeface="Touvlo"/>
                </a:rPr>
                <a:t>Key Milestones for Launch and Growth</a:t>
              </a:r>
            </a:p>
          </p:txBody>
        </p:sp>
      </p:grpSp>
      <p:sp>
        <p:nvSpPr>
          <p:cNvPr name="TextBox 15" id="15"/>
          <p:cNvSpPr txBox="true"/>
          <p:nvPr/>
        </p:nvSpPr>
        <p:spPr>
          <a:xfrm rot="0">
            <a:off x="12195756" y="6896100"/>
            <a:ext cx="3985967" cy="1544320"/>
          </a:xfrm>
          <a:prstGeom prst="rect">
            <a:avLst/>
          </a:prstGeom>
        </p:spPr>
        <p:txBody>
          <a:bodyPr anchor="t" rtlCol="false" tIns="0" lIns="0" bIns="0" rIns="0">
            <a:spAutoFit/>
          </a:bodyPr>
          <a:lstStyle/>
          <a:p>
            <a:pPr algn="l" marL="0" indent="0" lvl="0">
              <a:lnSpc>
                <a:spcPts val="3080"/>
              </a:lnSpc>
            </a:pPr>
            <a:r>
              <a:rPr lang="en-US" sz="2200">
                <a:solidFill>
                  <a:srgbClr val="000000"/>
                </a:solidFill>
                <a:latin typeface="Touvlo"/>
                <a:ea typeface="Touvlo"/>
                <a:cs typeface="Touvlo"/>
                <a:sym typeface="Touvlo"/>
              </a:rPr>
              <a:t>Refining offerings to elevate the user experience</a:t>
            </a:r>
            <a:r>
              <a:rPr lang="en-US" sz="2200">
                <a:solidFill>
                  <a:srgbClr val="000000"/>
                </a:solidFill>
                <a:latin typeface="Touvlo"/>
                <a:ea typeface="Touvlo"/>
                <a:cs typeface="Touvlo"/>
                <a:sym typeface="Touvlo"/>
              </a:rPr>
              <a:t> and target broader market segments.</a:t>
            </a:r>
          </a:p>
        </p:txBody>
      </p:sp>
      <p:sp>
        <p:nvSpPr>
          <p:cNvPr name="TextBox 16" id="16"/>
          <p:cNvSpPr txBox="true"/>
          <p:nvPr/>
        </p:nvSpPr>
        <p:spPr>
          <a:xfrm rot="0">
            <a:off x="12197008" y="4638674"/>
            <a:ext cx="3985967" cy="5048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000000"/>
                </a:solidFill>
                <a:latin typeface="Proxima Nova Condensed Bold"/>
                <a:ea typeface="Proxima Nova Condensed Bold"/>
                <a:cs typeface="Proxima Nova Condensed Bold"/>
                <a:sym typeface="Proxima Nova Condensed Bold"/>
              </a:rPr>
              <a:t>PUBLIC RELEASE</a:t>
            </a:r>
          </a:p>
        </p:txBody>
      </p:sp>
      <p:sp>
        <p:nvSpPr>
          <p:cNvPr name="TextBox 17" id="17"/>
          <p:cNvSpPr txBox="true"/>
          <p:nvPr/>
        </p:nvSpPr>
        <p:spPr>
          <a:xfrm rot="0">
            <a:off x="6419850" y="6896100"/>
            <a:ext cx="4009388" cy="763270"/>
          </a:xfrm>
          <a:prstGeom prst="rect">
            <a:avLst/>
          </a:prstGeom>
        </p:spPr>
        <p:txBody>
          <a:bodyPr anchor="t" rtlCol="false" tIns="0" lIns="0" bIns="0" rIns="0">
            <a:spAutoFit/>
          </a:bodyPr>
          <a:lstStyle/>
          <a:p>
            <a:pPr algn="l" marL="0" indent="0" lvl="0">
              <a:lnSpc>
                <a:spcPts val="3080"/>
              </a:lnSpc>
            </a:pPr>
            <a:r>
              <a:rPr lang="en-US" sz="2200">
                <a:solidFill>
                  <a:srgbClr val="000000"/>
                </a:solidFill>
                <a:latin typeface="Touvlo"/>
                <a:ea typeface="Touvlo"/>
                <a:cs typeface="Touvlo"/>
                <a:sym typeface="Touvlo"/>
              </a:rPr>
              <a:t>Gathering insights to enhance features.</a:t>
            </a:r>
          </a:p>
        </p:txBody>
      </p:sp>
      <p:sp>
        <p:nvSpPr>
          <p:cNvPr name="TextBox 18" id="18"/>
          <p:cNvSpPr txBox="true"/>
          <p:nvPr/>
        </p:nvSpPr>
        <p:spPr>
          <a:xfrm rot="0">
            <a:off x="6420487" y="4638674"/>
            <a:ext cx="4009388" cy="5048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000000"/>
                </a:solidFill>
                <a:latin typeface="Proxima Nova Condensed Bold"/>
                <a:ea typeface="Proxima Nova Condensed Bold"/>
                <a:cs typeface="Proxima Nova Condensed Bold"/>
                <a:sym typeface="Proxima Nova Condensed Bold"/>
              </a:rPr>
              <a:t>USER FEEDBACK LOOP</a:t>
            </a:r>
          </a:p>
        </p:txBody>
      </p:sp>
      <p:sp>
        <p:nvSpPr>
          <p:cNvPr name="TextBox 19" id="19"/>
          <p:cNvSpPr txBox="true"/>
          <p:nvPr/>
        </p:nvSpPr>
        <p:spPr>
          <a:xfrm rot="0">
            <a:off x="666750" y="6896100"/>
            <a:ext cx="3992173" cy="763270"/>
          </a:xfrm>
          <a:prstGeom prst="rect">
            <a:avLst/>
          </a:prstGeom>
        </p:spPr>
        <p:txBody>
          <a:bodyPr anchor="t" rtlCol="false" tIns="0" lIns="0" bIns="0" rIns="0">
            <a:spAutoFit/>
          </a:bodyPr>
          <a:lstStyle/>
          <a:p>
            <a:pPr algn="l" marL="0" indent="0" lvl="0">
              <a:lnSpc>
                <a:spcPts val="3080"/>
              </a:lnSpc>
            </a:pPr>
            <a:r>
              <a:rPr lang="en-US" sz="2200">
                <a:solidFill>
                  <a:srgbClr val="000000"/>
                </a:solidFill>
                <a:latin typeface="Touvlo"/>
                <a:ea typeface="Touvlo"/>
                <a:cs typeface="Touvlo"/>
                <a:sym typeface="Touvlo"/>
              </a:rPr>
              <a:t>Initial product release to early adopters.</a:t>
            </a:r>
          </a:p>
        </p:txBody>
      </p:sp>
      <p:sp>
        <p:nvSpPr>
          <p:cNvPr name="TextBox 20" id="20"/>
          <p:cNvSpPr txBox="true"/>
          <p:nvPr/>
        </p:nvSpPr>
        <p:spPr>
          <a:xfrm rot="0">
            <a:off x="666750" y="4638674"/>
            <a:ext cx="3992173" cy="5048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000000"/>
                </a:solidFill>
                <a:latin typeface="Proxima Nova Condensed Bold"/>
                <a:ea typeface="Proxima Nova Condensed Bold"/>
                <a:cs typeface="Proxima Nova Condensed Bold"/>
                <a:sym typeface="Proxima Nova Condensed Bold"/>
              </a:rPr>
              <a:t>MVP LAUNCH PHASE</a:t>
            </a:r>
          </a:p>
        </p:txBody>
      </p:sp>
      <p:grpSp>
        <p:nvGrpSpPr>
          <p:cNvPr name="Group 21" id="21"/>
          <p:cNvGrpSpPr/>
          <p:nvPr/>
        </p:nvGrpSpPr>
        <p:grpSpPr>
          <a:xfrm rot="-5400000">
            <a:off x="-5014748" y="5014748"/>
            <a:ext cx="10287000" cy="257505"/>
            <a:chOff x="0" y="0"/>
            <a:chExt cx="2709333" cy="67820"/>
          </a:xfrm>
        </p:grpSpPr>
        <p:sp>
          <p:nvSpPr>
            <p:cNvPr name="Freeform 22" id="22"/>
            <p:cNvSpPr/>
            <p:nvPr/>
          </p:nvSpPr>
          <p:spPr>
            <a:xfrm flipH="false" flipV="false" rot="0">
              <a:off x="0" y="0"/>
              <a:ext cx="2709333" cy="67820"/>
            </a:xfrm>
            <a:custGeom>
              <a:avLst/>
              <a:gdLst/>
              <a:ahLst/>
              <a:cxnLst/>
              <a:rect r="r" b="b" t="t" l="l"/>
              <a:pathLst>
                <a:path h="67820" w="2709333">
                  <a:moveTo>
                    <a:pt x="0" y="0"/>
                  </a:moveTo>
                  <a:lnTo>
                    <a:pt x="2709333" y="0"/>
                  </a:lnTo>
                  <a:lnTo>
                    <a:pt x="2709333" y="67820"/>
                  </a:lnTo>
                  <a:lnTo>
                    <a:pt x="0" y="67820"/>
                  </a:lnTo>
                  <a:close/>
                </a:path>
              </a:pathLst>
            </a:custGeom>
            <a:solidFill>
              <a:srgbClr val="000000"/>
            </a:solidFill>
          </p:spPr>
        </p:sp>
        <p:sp>
          <p:nvSpPr>
            <p:cNvPr name="TextBox 23" id="23"/>
            <p:cNvSpPr txBox="true"/>
            <p:nvPr/>
          </p:nvSpPr>
          <p:spPr>
            <a:xfrm>
              <a:off x="0" y="-38100"/>
              <a:ext cx="2709333" cy="105920"/>
            </a:xfrm>
            <a:prstGeom prst="rect">
              <a:avLst/>
            </a:prstGeom>
          </p:spPr>
          <p:txBody>
            <a:bodyPr anchor="ctr" rtlCol="false" tIns="50800" lIns="50800" bIns="50800" rIns="50800"/>
            <a:lstStyle/>
            <a:p>
              <a:pPr algn="ctr" marL="0" indent="0" lvl="0">
                <a:lnSpc>
                  <a:spcPts val="3079"/>
                </a:lnSpc>
              </a:pPr>
            </a:p>
          </p:txBody>
        </p:sp>
      </p:grpSp>
      <p:sp>
        <p:nvSpPr>
          <p:cNvPr name="Freeform 24" id="24"/>
          <p:cNvSpPr/>
          <p:nvPr/>
        </p:nvSpPr>
        <p:spPr>
          <a:xfrm flipH="false" flipV="false" rot="0">
            <a:off x="1151077" y="3313467"/>
            <a:ext cx="1062847" cy="1190561"/>
          </a:xfrm>
          <a:custGeom>
            <a:avLst/>
            <a:gdLst/>
            <a:ahLst/>
            <a:cxnLst/>
            <a:rect r="r" b="b" t="t" l="l"/>
            <a:pathLst>
              <a:path h="1190561" w="1062847">
                <a:moveTo>
                  <a:pt x="0" y="0"/>
                </a:moveTo>
                <a:lnTo>
                  <a:pt x="1062846" y="0"/>
                </a:lnTo>
                <a:lnTo>
                  <a:pt x="1062846" y="1190561"/>
                </a:lnTo>
                <a:lnTo>
                  <a:pt x="0" y="11905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5" id="25"/>
          <p:cNvSpPr/>
          <p:nvPr/>
        </p:nvSpPr>
        <p:spPr>
          <a:xfrm flipH="false" flipV="false" rot="0">
            <a:off x="7154820" y="3313467"/>
            <a:ext cx="1101811" cy="1190561"/>
          </a:xfrm>
          <a:custGeom>
            <a:avLst/>
            <a:gdLst/>
            <a:ahLst/>
            <a:cxnLst/>
            <a:rect r="r" b="b" t="t" l="l"/>
            <a:pathLst>
              <a:path h="1190561" w="1101811">
                <a:moveTo>
                  <a:pt x="0" y="0"/>
                </a:moveTo>
                <a:lnTo>
                  <a:pt x="1101810" y="0"/>
                </a:lnTo>
                <a:lnTo>
                  <a:pt x="1101810" y="1190561"/>
                </a:lnTo>
                <a:lnTo>
                  <a:pt x="0" y="11905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6" id="26"/>
          <p:cNvSpPr/>
          <p:nvPr/>
        </p:nvSpPr>
        <p:spPr>
          <a:xfrm flipH="false" flipV="false" rot="0">
            <a:off x="12525772" y="3313467"/>
            <a:ext cx="1123457" cy="1190561"/>
          </a:xfrm>
          <a:custGeom>
            <a:avLst/>
            <a:gdLst/>
            <a:ahLst/>
            <a:cxnLst/>
            <a:rect r="r" b="b" t="t" l="l"/>
            <a:pathLst>
              <a:path h="1190561" w="1123457">
                <a:moveTo>
                  <a:pt x="0" y="0"/>
                </a:moveTo>
                <a:lnTo>
                  <a:pt x="1123458" y="0"/>
                </a:lnTo>
                <a:lnTo>
                  <a:pt x="1123458" y="1190561"/>
                </a:lnTo>
                <a:lnTo>
                  <a:pt x="0" y="11905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FFFFFF"/>
            </a:solidFill>
            <a:ln w="12700">
              <a:solidFill>
                <a:srgbClr val="000000"/>
              </a:solidFill>
            </a:ln>
          </p:spPr>
        </p:sp>
      </p:grpSp>
      <p:grpSp>
        <p:nvGrpSpPr>
          <p:cNvPr name="Group 4" id="4"/>
          <p:cNvGrpSpPr/>
          <p:nvPr/>
        </p:nvGrpSpPr>
        <p:grpSpPr>
          <a:xfrm rot="0">
            <a:off x="9551819" y="666750"/>
            <a:ext cx="8324850" cy="8953500"/>
            <a:chOff x="0" y="0"/>
            <a:chExt cx="4066175" cy="4373232"/>
          </a:xfrm>
        </p:grpSpPr>
        <p:sp>
          <p:nvSpPr>
            <p:cNvPr name="Freeform 5" id="5"/>
            <p:cNvSpPr/>
            <p:nvPr/>
          </p:nvSpPr>
          <p:spPr>
            <a:xfrm flipH="false" flipV="false" rot="0">
              <a:off x="54483" y="50038"/>
              <a:ext cx="3957082" cy="4273791"/>
            </a:xfrm>
            <a:custGeom>
              <a:avLst/>
              <a:gdLst/>
              <a:ahLst/>
              <a:cxnLst/>
              <a:rect r="r" b="b" t="t" l="l"/>
              <a:pathLst>
                <a:path h="4273791" w="3957082">
                  <a:moveTo>
                    <a:pt x="3869452" y="4273791"/>
                  </a:moveTo>
                  <a:lnTo>
                    <a:pt x="87757" y="4273791"/>
                  </a:lnTo>
                  <a:cubicBezTo>
                    <a:pt x="39370" y="4273791"/>
                    <a:pt x="0" y="4234548"/>
                    <a:pt x="0" y="4186034"/>
                  </a:cubicBezTo>
                  <a:lnTo>
                    <a:pt x="0" y="87757"/>
                  </a:lnTo>
                  <a:cubicBezTo>
                    <a:pt x="0" y="39370"/>
                    <a:pt x="39243" y="0"/>
                    <a:pt x="87757" y="0"/>
                  </a:cubicBezTo>
                  <a:lnTo>
                    <a:pt x="3869325" y="0"/>
                  </a:lnTo>
                  <a:cubicBezTo>
                    <a:pt x="3917712" y="0"/>
                    <a:pt x="3957082" y="39243"/>
                    <a:pt x="3957082" y="87757"/>
                  </a:cubicBezTo>
                  <a:lnTo>
                    <a:pt x="3957082" y="4186034"/>
                  </a:lnTo>
                  <a:cubicBezTo>
                    <a:pt x="3957082" y="4234421"/>
                    <a:pt x="3917839" y="4273791"/>
                    <a:pt x="3869325" y="4273791"/>
                  </a:cubicBezTo>
                  <a:close/>
                </a:path>
              </a:pathLst>
            </a:custGeom>
            <a:blipFill>
              <a:blip r:embed="rId2"/>
              <a:stretch>
                <a:fillRect l="-22002" t="0" r="-22002" b="0"/>
              </a:stretch>
            </a:blipFill>
          </p:spPr>
        </p:sp>
        <p:sp>
          <p:nvSpPr>
            <p:cNvPr name="Freeform 6" id="6"/>
            <p:cNvSpPr/>
            <p:nvPr/>
          </p:nvSpPr>
          <p:spPr>
            <a:xfrm flipH="false" flipV="false" rot="0">
              <a:off x="0" y="0"/>
              <a:ext cx="4066048" cy="4373105"/>
            </a:xfrm>
            <a:custGeom>
              <a:avLst/>
              <a:gdLst/>
              <a:ahLst/>
              <a:cxnLst/>
              <a:rect r="r" b="b" t="t" l="l"/>
              <a:pathLst>
                <a:path h="4373105" w="4066048">
                  <a:moveTo>
                    <a:pt x="0" y="91567"/>
                  </a:moveTo>
                  <a:lnTo>
                    <a:pt x="0" y="4281538"/>
                  </a:lnTo>
                  <a:cubicBezTo>
                    <a:pt x="0" y="4332084"/>
                    <a:pt x="41021" y="4373105"/>
                    <a:pt x="91567" y="4373105"/>
                  </a:cubicBezTo>
                  <a:lnTo>
                    <a:pt x="3974481" y="4373105"/>
                  </a:lnTo>
                  <a:cubicBezTo>
                    <a:pt x="4025027" y="4373105"/>
                    <a:pt x="4066048" y="4332084"/>
                    <a:pt x="4066048" y="4281538"/>
                  </a:cubicBezTo>
                  <a:lnTo>
                    <a:pt x="4066048" y="91567"/>
                  </a:lnTo>
                  <a:cubicBezTo>
                    <a:pt x="4066048" y="41021"/>
                    <a:pt x="4025027" y="0"/>
                    <a:pt x="3974481" y="0"/>
                  </a:cubicBezTo>
                  <a:lnTo>
                    <a:pt x="91567" y="0"/>
                  </a:lnTo>
                  <a:cubicBezTo>
                    <a:pt x="41021" y="0"/>
                    <a:pt x="0" y="41021"/>
                    <a:pt x="0" y="91567"/>
                  </a:cubicBezTo>
                  <a:close/>
                  <a:moveTo>
                    <a:pt x="3224292" y="331724"/>
                  </a:moveTo>
                  <a:lnTo>
                    <a:pt x="3883422" y="331724"/>
                  </a:lnTo>
                  <a:cubicBezTo>
                    <a:pt x="3933968" y="331724"/>
                    <a:pt x="3974989" y="372745"/>
                    <a:pt x="3974989" y="423291"/>
                  </a:cubicBezTo>
                  <a:lnTo>
                    <a:pt x="3974989" y="4190479"/>
                  </a:lnTo>
                  <a:cubicBezTo>
                    <a:pt x="3974989" y="4241025"/>
                    <a:pt x="3933968" y="4282046"/>
                    <a:pt x="3883422" y="4282046"/>
                  </a:cubicBezTo>
                  <a:lnTo>
                    <a:pt x="182753" y="4282046"/>
                  </a:lnTo>
                  <a:cubicBezTo>
                    <a:pt x="132207" y="4282046"/>
                    <a:pt x="91186" y="4241025"/>
                    <a:pt x="91186" y="4190479"/>
                  </a:cubicBezTo>
                  <a:lnTo>
                    <a:pt x="91186" y="182753"/>
                  </a:lnTo>
                  <a:cubicBezTo>
                    <a:pt x="91186" y="132207"/>
                    <a:pt x="132207" y="91186"/>
                    <a:pt x="182753" y="91186"/>
                  </a:cubicBezTo>
                  <a:lnTo>
                    <a:pt x="2927239" y="91186"/>
                  </a:lnTo>
                  <a:cubicBezTo>
                    <a:pt x="2953274" y="91186"/>
                    <a:pt x="2978166" y="102235"/>
                    <a:pt x="2995565" y="121666"/>
                  </a:cubicBezTo>
                  <a:lnTo>
                    <a:pt x="3156220" y="301244"/>
                  </a:lnTo>
                  <a:cubicBezTo>
                    <a:pt x="3173619" y="320675"/>
                    <a:pt x="3198384" y="331724"/>
                    <a:pt x="3224546" y="331724"/>
                  </a:cubicBezTo>
                  <a:lnTo>
                    <a:pt x="3224292" y="331724"/>
                  </a:lnTo>
                  <a:close/>
                </a:path>
              </a:pathLst>
            </a:custGeom>
            <a:solidFill>
              <a:srgbClr val="FFD300"/>
            </a:solidFill>
          </p:spPr>
        </p:sp>
      </p:grpSp>
      <p:sp>
        <p:nvSpPr>
          <p:cNvPr name="TextBox 7" id="7"/>
          <p:cNvSpPr txBox="true"/>
          <p:nvPr/>
        </p:nvSpPr>
        <p:spPr>
          <a:xfrm rot="0">
            <a:off x="2182938" y="800100"/>
            <a:ext cx="4125187" cy="930275"/>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000000"/>
                </a:solidFill>
                <a:latin typeface="Work Sans Semi-Bold"/>
                <a:ea typeface="Work Sans Semi-Bold"/>
                <a:cs typeface="Work Sans Semi-Bold"/>
                <a:sym typeface="Work Sans Semi-Bold"/>
              </a:rPr>
              <a:t>Our Team</a:t>
            </a:r>
          </a:p>
        </p:txBody>
      </p:sp>
      <p:sp>
        <p:nvSpPr>
          <p:cNvPr name="TextBox 8" id="8"/>
          <p:cNvSpPr txBox="true"/>
          <p:nvPr/>
        </p:nvSpPr>
        <p:spPr>
          <a:xfrm rot="0">
            <a:off x="1002750" y="2418159"/>
            <a:ext cx="7988850" cy="3912870"/>
          </a:xfrm>
          <a:prstGeom prst="rect">
            <a:avLst/>
          </a:prstGeom>
        </p:spPr>
        <p:txBody>
          <a:bodyPr anchor="t" rtlCol="false" tIns="0" lIns="0" bIns="0" rIns="0">
            <a:spAutoFit/>
          </a:bodyPr>
          <a:lstStyle/>
          <a:p>
            <a:pPr algn="l">
              <a:lnSpc>
                <a:spcPts val="3120"/>
              </a:lnSpc>
            </a:pPr>
            <a:r>
              <a:rPr lang="en-US" sz="2400" spc="-48">
                <a:solidFill>
                  <a:srgbClr val="000000"/>
                </a:solidFill>
                <a:latin typeface="TT Interphases"/>
                <a:ea typeface="TT Interphases"/>
                <a:cs typeface="TT Interphases"/>
                <a:sym typeface="TT Interphases"/>
              </a:rPr>
              <a:t>Founder &amp; CEO</a:t>
            </a:r>
          </a:p>
          <a:p>
            <a:pPr algn="l">
              <a:lnSpc>
                <a:spcPts val="3120"/>
              </a:lnSpc>
            </a:pPr>
            <a:r>
              <a:rPr lang="en-US" sz="2400" spc="-48">
                <a:solidFill>
                  <a:srgbClr val="000000"/>
                </a:solidFill>
                <a:latin typeface="TT Interphases"/>
                <a:ea typeface="TT Interphases"/>
                <a:cs typeface="TT Interphases"/>
                <a:sym typeface="TT Interphases"/>
              </a:rPr>
              <a:t> Chef Larkin founder of Black Girl Tamales, brings over 25 years of experience as a classically trained, award-winning chef, hospitality consultant, and culinary educator. Her industry background includes:</a:t>
            </a:r>
          </a:p>
          <a:p>
            <a:pPr algn="l" marL="518160" indent="-259080" lvl="1">
              <a:lnSpc>
                <a:spcPts val="3120"/>
              </a:lnSpc>
              <a:buFont typeface="Arial"/>
              <a:buChar char="•"/>
            </a:pPr>
            <a:r>
              <a:rPr lang="en-US" sz="2400" spc="-48">
                <a:solidFill>
                  <a:srgbClr val="000000"/>
                </a:solidFill>
                <a:latin typeface="TT Interphases"/>
                <a:ea typeface="TT Interphases"/>
                <a:cs typeface="TT Interphases"/>
                <a:sym typeface="TT Interphases"/>
              </a:rPr>
              <a:t>15+ years of consulting on menu development, standardized recipes, and COGS improvement.</a:t>
            </a:r>
          </a:p>
          <a:p>
            <a:pPr algn="l" marL="518160" indent="-259080" lvl="1">
              <a:lnSpc>
                <a:spcPts val="3120"/>
              </a:lnSpc>
              <a:spcBef>
                <a:spcPct val="0"/>
              </a:spcBef>
              <a:buFont typeface="Arial"/>
              <a:buChar char="•"/>
            </a:pPr>
            <a:r>
              <a:rPr lang="en-US" sz="2400" spc="-48">
                <a:solidFill>
                  <a:srgbClr val="000000"/>
                </a:solidFill>
                <a:latin typeface="TT Interphases"/>
                <a:ea typeface="TT Interphases"/>
                <a:cs typeface="TT Interphases"/>
                <a:sym typeface="TT Interphases"/>
              </a:rPr>
              <a:t>10+ years as a culinary educator and curriculum writer, teaching students and foodpreneurs cost control, kitchen management, and recipe accuracy.</a:t>
            </a:r>
          </a:p>
        </p:txBody>
      </p:sp>
      <p:sp>
        <p:nvSpPr>
          <p:cNvPr name="TextBox 9" id="9"/>
          <p:cNvSpPr txBox="true"/>
          <p:nvPr/>
        </p:nvSpPr>
        <p:spPr>
          <a:xfrm rot="0">
            <a:off x="1002750" y="6907530"/>
            <a:ext cx="7652851" cy="1960245"/>
          </a:xfrm>
          <a:prstGeom prst="rect">
            <a:avLst/>
          </a:prstGeom>
        </p:spPr>
        <p:txBody>
          <a:bodyPr anchor="t" rtlCol="false" tIns="0" lIns="0" bIns="0" rIns="0">
            <a:spAutoFit/>
          </a:bodyPr>
          <a:lstStyle/>
          <a:p>
            <a:pPr algn="l">
              <a:lnSpc>
                <a:spcPts val="3120"/>
              </a:lnSpc>
            </a:pPr>
            <a:r>
              <a:rPr lang="en-US" sz="2400" spc="-48">
                <a:solidFill>
                  <a:srgbClr val="000000"/>
                </a:solidFill>
                <a:latin typeface="TT Interphases"/>
                <a:ea typeface="TT Interphases"/>
                <a:cs typeface="TT Interphases"/>
                <a:sym typeface="TT Interphases"/>
              </a:rPr>
              <a:t>Co-Founder</a:t>
            </a:r>
          </a:p>
          <a:p>
            <a:pPr algn="l">
              <a:lnSpc>
                <a:spcPts val="3120"/>
              </a:lnSpc>
              <a:spcBef>
                <a:spcPct val="0"/>
              </a:spcBef>
            </a:pPr>
            <a:r>
              <a:rPr lang="en-US" sz="2400" spc="-48">
                <a:solidFill>
                  <a:srgbClr val="000000"/>
                </a:solidFill>
                <a:latin typeface="TT Interphases"/>
                <a:ea typeface="TT Interphases"/>
                <a:cs typeface="TT Interphases"/>
                <a:sym typeface="TT Interphases"/>
              </a:rPr>
              <a:t>Jason is a detail-oriented finance professional with over 15 years of corporate hands-on experience across accounts payable, accounts receivable, revenue cycle operations, and financial reconciliation. </a:t>
            </a:r>
          </a:p>
        </p:txBody>
      </p:sp>
      <p:sp>
        <p:nvSpPr>
          <p:cNvPr name="TextBox 10" id="10"/>
          <p:cNvSpPr txBox="true"/>
          <p:nvPr/>
        </p:nvSpPr>
        <p:spPr>
          <a:xfrm rot="0">
            <a:off x="1002750" y="1916507"/>
            <a:ext cx="6992663" cy="539752"/>
          </a:xfrm>
          <a:prstGeom prst="rect">
            <a:avLst/>
          </a:prstGeom>
        </p:spPr>
        <p:txBody>
          <a:bodyPr anchor="t" rtlCol="false" tIns="0" lIns="0" bIns="0" rIns="0">
            <a:spAutoFit/>
          </a:bodyPr>
          <a:lstStyle/>
          <a:p>
            <a:pPr algn="l" marL="0" indent="0" lvl="0">
              <a:lnSpc>
                <a:spcPts val="4000"/>
              </a:lnSpc>
            </a:pPr>
            <a:r>
              <a:rPr lang="en-US" b="true" sz="4000" spc="-220">
                <a:solidFill>
                  <a:srgbClr val="000000"/>
                </a:solidFill>
                <a:latin typeface="Work Sans Semi-Bold"/>
                <a:ea typeface="Work Sans Semi-Bold"/>
                <a:cs typeface="Work Sans Semi-Bold"/>
                <a:sym typeface="Work Sans Semi-Bold"/>
              </a:rPr>
              <a:t>Chef LaToya Larkin, MBA, CCE</a:t>
            </a:r>
          </a:p>
        </p:txBody>
      </p:sp>
      <p:sp>
        <p:nvSpPr>
          <p:cNvPr name="TextBox 11" id="11"/>
          <p:cNvSpPr txBox="true"/>
          <p:nvPr/>
        </p:nvSpPr>
        <p:spPr>
          <a:xfrm rot="0">
            <a:off x="1002750" y="6405878"/>
            <a:ext cx="6992663" cy="539752"/>
          </a:xfrm>
          <a:prstGeom prst="rect">
            <a:avLst/>
          </a:prstGeom>
        </p:spPr>
        <p:txBody>
          <a:bodyPr anchor="t" rtlCol="false" tIns="0" lIns="0" bIns="0" rIns="0">
            <a:spAutoFit/>
          </a:bodyPr>
          <a:lstStyle/>
          <a:p>
            <a:pPr algn="l" marL="0" indent="0" lvl="0">
              <a:lnSpc>
                <a:spcPts val="4000"/>
              </a:lnSpc>
            </a:pPr>
            <a:r>
              <a:rPr lang="en-US" b="true" sz="4000" spc="-220">
                <a:solidFill>
                  <a:srgbClr val="000000"/>
                </a:solidFill>
                <a:latin typeface="Work Sans Semi-Bold"/>
                <a:ea typeface="Work Sans Semi-Bold"/>
                <a:cs typeface="Work Sans Semi-Bold"/>
                <a:sym typeface="Work Sans Semi-Bold"/>
              </a:rPr>
              <a:t>Jason Parker, MHA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1083574" cy="1822834"/>
          </a:xfrm>
        </p:grpSpPr>
        <p:sp>
          <p:nvSpPr>
            <p:cNvPr name="Freeform 3" id="3"/>
            <p:cNvSpPr/>
            <p:nvPr/>
          </p:nvSpPr>
          <p:spPr>
            <a:xfrm flipH="false" flipV="false" rot="0">
              <a:off x="0" y="0"/>
              <a:ext cx="1083574" cy="1822834"/>
            </a:xfrm>
            <a:custGeom>
              <a:avLst/>
              <a:gdLst/>
              <a:ahLst/>
              <a:cxnLst/>
              <a:rect r="r" b="b" t="t" l="l"/>
              <a:pathLst>
                <a:path h="1822834" w="1083574">
                  <a:moveTo>
                    <a:pt x="0" y="0"/>
                  </a:moveTo>
                  <a:lnTo>
                    <a:pt x="1083574" y="0"/>
                  </a:lnTo>
                  <a:lnTo>
                    <a:pt x="1083574" y="1822834"/>
                  </a:lnTo>
                  <a:lnTo>
                    <a:pt x="0" y="1822834"/>
                  </a:lnTo>
                  <a:close/>
                </a:path>
              </a:pathLst>
            </a:custGeom>
            <a:blipFill>
              <a:blip r:embed="rId2"/>
              <a:stretch>
                <a:fillRect l="0" t="-58" r="0" b="-58"/>
              </a:stretch>
            </a:blipFill>
          </p:spPr>
        </p:sp>
      </p:grpSp>
      <p:sp>
        <p:nvSpPr>
          <p:cNvPr name="TextBox 4" id="4"/>
          <p:cNvSpPr txBox="true"/>
          <p:nvPr/>
        </p:nvSpPr>
        <p:spPr>
          <a:xfrm rot="0">
            <a:off x="666750" y="666750"/>
            <a:ext cx="9642341" cy="878479"/>
          </a:xfrm>
          <a:prstGeom prst="rect">
            <a:avLst/>
          </a:prstGeom>
        </p:spPr>
        <p:txBody>
          <a:bodyPr anchor="t" rtlCol="false" tIns="0" lIns="0" bIns="0" rIns="0">
            <a:spAutoFit/>
          </a:bodyPr>
          <a:lstStyle/>
          <a:p>
            <a:pPr algn="l" marL="0" indent="0" lvl="0">
              <a:lnSpc>
                <a:spcPts val="6961"/>
              </a:lnSpc>
            </a:pPr>
            <a:r>
              <a:rPr lang="en-US" sz="5801">
                <a:solidFill>
                  <a:srgbClr val="FFC700"/>
                </a:solidFill>
                <a:latin typeface="Roca Two"/>
                <a:ea typeface="Roca Two"/>
                <a:cs typeface="Roca Two"/>
                <a:sym typeface="Roca Two"/>
              </a:rPr>
              <a:t>Culinary Cost Clarity Recap</a:t>
            </a:r>
          </a:p>
        </p:txBody>
      </p:sp>
      <p:sp>
        <p:nvSpPr>
          <p:cNvPr name="TextBox 5" id="5"/>
          <p:cNvSpPr txBox="true"/>
          <p:nvPr/>
        </p:nvSpPr>
        <p:spPr>
          <a:xfrm rot="0">
            <a:off x="358721" y="2311855"/>
            <a:ext cx="5577000" cy="7294374"/>
          </a:xfrm>
          <a:prstGeom prst="rect">
            <a:avLst/>
          </a:prstGeom>
        </p:spPr>
        <p:txBody>
          <a:bodyPr anchor="t" rtlCol="false" tIns="0" lIns="0" bIns="0" rIns="0">
            <a:spAutoFit/>
          </a:bodyPr>
          <a:lstStyle/>
          <a:p>
            <a:pPr algn="l" marL="0" indent="0" lvl="0">
              <a:lnSpc>
                <a:spcPts val="2768"/>
              </a:lnSpc>
            </a:pPr>
            <a:r>
              <a:rPr lang="en-US" sz="1977" spc="39">
                <a:solidFill>
                  <a:srgbClr val="FFFFFF"/>
                </a:solidFill>
                <a:latin typeface="Be Vietnam"/>
                <a:ea typeface="Be Vietnam"/>
                <a:cs typeface="Be Vietnam"/>
                <a:sym typeface="Be Vietnam"/>
              </a:rPr>
              <a:t>The </a:t>
            </a:r>
            <a:r>
              <a:rPr lang="en-US" b="true" sz="1977" spc="39">
                <a:solidFill>
                  <a:srgbClr val="FFFFFF"/>
                </a:solidFill>
                <a:latin typeface="Be Vietnam Ultra-Bold"/>
                <a:ea typeface="Be Vietnam Ultra-Bold"/>
                <a:cs typeface="Be Vietnam Ultra-Bold"/>
                <a:sym typeface="Be Vietnam Ultra-Bold"/>
              </a:rPr>
              <a:t>Mise en Cost app</a:t>
            </a:r>
            <a:r>
              <a:rPr lang="en-US" sz="1977" spc="39">
                <a:solidFill>
                  <a:srgbClr val="FFFFFF"/>
                </a:solidFill>
                <a:latin typeface="Be Vietnam"/>
                <a:ea typeface="Be Vietnam"/>
                <a:cs typeface="Be Vietnam"/>
                <a:sym typeface="Be Vietnam"/>
              </a:rPr>
              <a:t> addresses a significant issue: nearly 40–55% of self-taught chefs fail to track their true food costs. Current tools are often either too complicated or too simplistic, leaving foodpreneurs without essential insights into their expenses. This gap creates uncertainty and hinders profitability in a competitive market, necessitating a modern solution that empowers home cooks and small businesses alike.</a:t>
            </a:r>
          </a:p>
          <a:p>
            <a:pPr algn="l" marL="0" indent="0" lvl="0">
              <a:lnSpc>
                <a:spcPts val="2768"/>
              </a:lnSpc>
            </a:pPr>
          </a:p>
          <a:p>
            <a:pPr algn="l" marL="0" indent="0" lvl="0">
              <a:lnSpc>
                <a:spcPts val="2768"/>
              </a:lnSpc>
            </a:pPr>
            <a:r>
              <a:rPr lang="en-US" sz="1977" spc="39">
                <a:solidFill>
                  <a:srgbClr val="FFFFFF"/>
                </a:solidFill>
                <a:latin typeface="Be Vietnam"/>
                <a:ea typeface="Be Vietnam"/>
                <a:cs typeface="Be Vietnam"/>
                <a:sym typeface="Be Vietnam"/>
              </a:rPr>
              <a:t>Our AI-powered mobile app offers instant cost clarity, enabling users to input recipes, utilize receipt OCR technology, and generate comprehensive PDF or email reports. These core MVP features streamline financial management, providing a robust tool for culinary enthusiasts eager to optimize their food costs and improve their bottom line.</a:t>
            </a:r>
          </a:p>
        </p:txBody>
      </p:sp>
      <p:sp>
        <p:nvSpPr>
          <p:cNvPr name="TextBox 6" id="6"/>
          <p:cNvSpPr txBox="true"/>
          <p:nvPr/>
        </p:nvSpPr>
        <p:spPr>
          <a:xfrm rot="0">
            <a:off x="6376931" y="2311855"/>
            <a:ext cx="5534137" cy="6598517"/>
          </a:xfrm>
          <a:prstGeom prst="rect">
            <a:avLst/>
          </a:prstGeom>
        </p:spPr>
        <p:txBody>
          <a:bodyPr anchor="t" rtlCol="false" tIns="0" lIns="0" bIns="0" rIns="0">
            <a:spAutoFit/>
          </a:bodyPr>
          <a:lstStyle/>
          <a:p>
            <a:pPr algn="l" marL="0" indent="0" lvl="0">
              <a:lnSpc>
                <a:spcPts val="2768"/>
              </a:lnSpc>
            </a:pPr>
            <a:r>
              <a:rPr lang="en-US" sz="1977" spc="39">
                <a:solidFill>
                  <a:srgbClr val="FFFFFF"/>
                </a:solidFill>
                <a:latin typeface="Be Vietnam"/>
                <a:ea typeface="Be Vietnam"/>
                <a:cs typeface="Be Vietnam"/>
                <a:sym typeface="Be Vietnam"/>
              </a:rPr>
              <a:t>Validation experiments have demonstrated a clear demand for our solution, with over 15 submissions and 70% data utilization from participants. This feedback affirms the application's potential to foster trust and reliability among users. Our vision is to democratize culinary financial clarity, empowering small food founders to gain control over their finances and confidently navigate their culinary journeys.</a:t>
            </a:r>
          </a:p>
          <a:p>
            <a:pPr algn="l" marL="0" indent="0" lvl="0">
              <a:lnSpc>
                <a:spcPts val="2768"/>
              </a:lnSpc>
            </a:pPr>
          </a:p>
          <a:p>
            <a:pPr algn="l" marL="0" indent="0" lvl="0">
              <a:lnSpc>
                <a:spcPts val="2768"/>
              </a:lnSpc>
            </a:pPr>
            <a:r>
              <a:rPr lang="en-US" sz="1977" spc="39">
                <a:solidFill>
                  <a:srgbClr val="FFFFFF"/>
                </a:solidFill>
                <a:latin typeface="Be Vietnam"/>
                <a:ea typeface="Be Vietnam"/>
                <a:cs typeface="Be Vietnam"/>
                <a:sym typeface="Be Vietnam"/>
              </a:rPr>
              <a:t>By offering insights into food costing, the Mise en Cost app is positioned to become an essential resource for aspiring chefs and food entrepreneurs. The call to action for investors is clear: join us in transforming culinary passion into profit through innovative financial tools tailored to the unique needs of the food industry.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D300"/>
        </a:solidFill>
      </p:bgPr>
    </p:bg>
    <p:spTree>
      <p:nvGrpSpPr>
        <p:cNvPr id="1" name=""/>
        <p:cNvGrpSpPr/>
        <p:nvPr/>
      </p:nvGrpSpPr>
      <p:grpSpPr>
        <a:xfrm>
          <a:off x="0" y="0"/>
          <a:ext cx="0" cy="0"/>
          <a:chOff x="0" y="0"/>
          <a:chExt cx="0" cy="0"/>
        </a:xfrm>
      </p:grpSpPr>
      <p:grpSp>
        <p:nvGrpSpPr>
          <p:cNvPr name="Group 2" id="2"/>
          <p:cNvGrpSpPr/>
          <p:nvPr/>
        </p:nvGrpSpPr>
        <p:grpSpPr>
          <a:xfrm rot="0">
            <a:off x="10102596" y="0"/>
            <a:ext cx="8185404" cy="10287000"/>
            <a:chOff x="0" y="0"/>
            <a:chExt cx="2155827" cy="2709333"/>
          </a:xfrm>
        </p:grpSpPr>
        <p:sp>
          <p:nvSpPr>
            <p:cNvPr name="Freeform 3" id="3"/>
            <p:cNvSpPr/>
            <p:nvPr/>
          </p:nvSpPr>
          <p:spPr>
            <a:xfrm flipH="false" flipV="false" rot="0">
              <a:off x="0" y="0"/>
              <a:ext cx="2155827" cy="2709333"/>
            </a:xfrm>
            <a:custGeom>
              <a:avLst/>
              <a:gdLst/>
              <a:ahLst/>
              <a:cxnLst/>
              <a:rect r="r" b="b" t="t" l="l"/>
              <a:pathLst>
                <a:path h="2709333" w="2155827">
                  <a:moveTo>
                    <a:pt x="0" y="0"/>
                  </a:moveTo>
                  <a:lnTo>
                    <a:pt x="2155827" y="0"/>
                  </a:lnTo>
                  <a:lnTo>
                    <a:pt x="2155827" y="2709333"/>
                  </a:lnTo>
                  <a:lnTo>
                    <a:pt x="0" y="2709333"/>
                  </a:lnTo>
                  <a:close/>
                </a:path>
              </a:pathLst>
            </a:custGeom>
            <a:solidFill>
              <a:srgbClr val="FFFFFF"/>
            </a:solidFill>
          </p:spPr>
        </p:sp>
        <p:sp>
          <p:nvSpPr>
            <p:cNvPr name="TextBox 4" id="4"/>
            <p:cNvSpPr txBox="true"/>
            <p:nvPr/>
          </p:nvSpPr>
          <p:spPr>
            <a:xfrm>
              <a:off x="0" y="-28575"/>
              <a:ext cx="2155827" cy="2737908"/>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10708180" y="666750"/>
            <a:ext cx="6947741" cy="8953500"/>
            <a:chOff x="0" y="0"/>
            <a:chExt cx="812800" cy="1047449"/>
          </a:xfrm>
        </p:grpSpPr>
        <p:sp>
          <p:nvSpPr>
            <p:cNvPr name="Freeform 6" id="6"/>
            <p:cNvSpPr/>
            <p:nvPr/>
          </p:nvSpPr>
          <p:spPr>
            <a:xfrm flipH="false" flipV="false" rot="0">
              <a:off x="0" y="0"/>
              <a:ext cx="812800" cy="1047449"/>
            </a:xfrm>
            <a:custGeom>
              <a:avLst/>
              <a:gdLst/>
              <a:ahLst/>
              <a:cxnLst/>
              <a:rect r="r" b="b" t="t" l="l"/>
              <a:pathLst>
                <a:path h="1047449" w="812800">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solidFill>
              <a:srgbClr val="000000">
                <a:alpha val="0"/>
              </a:srgbClr>
            </a:solidFill>
            <a:ln w="12700">
              <a:solidFill>
                <a:srgbClr val="000000"/>
              </a:solidFill>
            </a:ln>
          </p:spPr>
        </p:sp>
      </p:grpSp>
      <p:sp>
        <p:nvSpPr>
          <p:cNvPr name="TextBox 7" id="7"/>
          <p:cNvSpPr txBox="true"/>
          <p:nvPr/>
        </p:nvSpPr>
        <p:spPr>
          <a:xfrm rot="0">
            <a:off x="666750" y="838200"/>
            <a:ext cx="8324850" cy="1120772"/>
          </a:xfrm>
          <a:prstGeom prst="rect">
            <a:avLst/>
          </a:prstGeom>
        </p:spPr>
        <p:txBody>
          <a:bodyPr anchor="t" rtlCol="false" tIns="0" lIns="0" bIns="0" rIns="0">
            <a:spAutoFit/>
          </a:bodyPr>
          <a:lstStyle/>
          <a:p>
            <a:pPr algn="l" marL="0" indent="0" lvl="0">
              <a:lnSpc>
                <a:spcPts val="8499"/>
              </a:lnSpc>
              <a:spcBef>
                <a:spcPct val="0"/>
              </a:spcBef>
            </a:pPr>
            <a:r>
              <a:rPr lang="en-US" sz="8499" spc="-169" strike="noStrike" u="none">
                <a:solidFill>
                  <a:srgbClr val="000000"/>
                </a:solidFill>
                <a:latin typeface="Cooper BT Light"/>
                <a:ea typeface="Cooper BT Light"/>
                <a:cs typeface="Cooper BT Light"/>
                <a:sym typeface="Cooper BT Light"/>
              </a:rPr>
              <a:t>Let's Connect</a:t>
            </a:r>
          </a:p>
        </p:txBody>
      </p:sp>
      <p:grpSp>
        <p:nvGrpSpPr>
          <p:cNvPr name="Group 8" id="8"/>
          <p:cNvGrpSpPr/>
          <p:nvPr/>
        </p:nvGrpSpPr>
        <p:grpSpPr>
          <a:xfrm rot="0">
            <a:off x="666750" y="5143500"/>
            <a:ext cx="8324850" cy="895350"/>
            <a:chOff x="0" y="0"/>
            <a:chExt cx="11099800" cy="1193800"/>
          </a:xfrm>
        </p:grpSpPr>
        <p:sp>
          <p:nvSpPr>
            <p:cNvPr name="TextBox 9" id="9"/>
            <p:cNvSpPr txBox="true"/>
            <p:nvPr/>
          </p:nvSpPr>
          <p:spPr>
            <a:xfrm rot="0">
              <a:off x="0" y="-38100"/>
              <a:ext cx="110998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000000"/>
                  </a:solidFill>
                  <a:latin typeface="TT Interphases Bold"/>
                  <a:ea typeface="TT Interphases Bold"/>
                  <a:cs typeface="TT Interphases Bold"/>
                  <a:sym typeface="TT Interphases Bold"/>
                </a:rPr>
                <a:t>Email</a:t>
              </a:r>
            </a:p>
          </p:txBody>
        </p:sp>
        <p:sp>
          <p:nvSpPr>
            <p:cNvPr name="TextBox 10" id="10"/>
            <p:cNvSpPr txBox="true"/>
            <p:nvPr/>
          </p:nvSpPr>
          <p:spPr>
            <a:xfrm rot="0">
              <a:off x="0" y="675640"/>
              <a:ext cx="11099800" cy="518160"/>
            </a:xfrm>
            <a:prstGeom prst="rect">
              <a:avLst/>
            </a:prstGeom>
          </p:spPr>
          <p:txBody>
            <a:bodyPr anchor="t" rtlCol="false" tIns="0" lIns="0" bIns="0" rIns="0">
              <a:spAutoFit/>
            </a:bodyPr>
            <a:lstStyle/>
            <a:p>
              <a:pPr algn="l" marL="0" indent="0" lvl="0">
                <a:lnSpc>
                  <a:spcPts val="3120"/>
                </a:lnSpc>
                <a:spcBef>
                  <a:spcPct val="0"/>
                </a:spcBef>
              </a:pPr>
              <a:r>
                <a:rPr lang="en-US" sz="2400" spc="-48">
                  <a:solidFill>
                    <a:srgbClr val="000000"/>
                  </a:solidFill>
                  <a:latin typeface="TT Interphases"/>
                  <a:ea typeface="TT Interphases"/>
                  <a:cs typeface="TT Interphases"/>
                  <a:sym typeface="TT Interphases"/>
                </a:rPr>
                <a:t>blackgirltamales@gmail.com</a:t>
              </a:r>
            </a:p>
          </p:txBody>
        </p:sp>
      </p:grpSp>
      <p:grpSp>
        <p:nvGrpSpPr>
          <p:cNvPr name="Group 11" id="11"/>
          <p:cNvGrpSpPr/>
          <p:nvPr/>
        </p:nvGrpSpPr>
        <p:grpSpPr>
          <a:xfrm rot="0">
            <a:off x="666750" y="6934200"/>
            <a:ext cx="8324850" cy="1676400"/>
            <a:chOff x="0" y="0"/>
            <a:chExt cx="11099800" cy="2235200"/>
          </a:xfrm>
        </p:grpSpPr>
        <p:sp>
          <p:nvSpPr>
            <p:cNvPr name="TextBox 12" id="12"/>
            <p:cNvSpPr txBox="true"/>
            <p:nvPr/>
          </p:nvSpPr>
          <p:spPr>
            <a:xfrm rot="0">
              <a:off x="0" y="-38100"/>
              <a:ext cx="110998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000000"/>
                  </a:solidFill>
                  <a:latin typeface="TT Interphases Bold"/>
                  <a:ea typeface="TT Interphases Bold"/>
                  <a:cs typeface="TT Interphases Bold"/>
                  <a:sym typeface="TT Interphases Bold"/>
                </a:rPr>
                <a:t>Social Media</a:t>
              </a:r>
            </a:p>
          </p:txBody>
        </p:sp>
        <p:sp>
          <p:nvSpPr>
            <p:cNvPr name="TextBox 13" id="13"/>
            <p:cNvSpPr txBox="true"/>
            <p:nvPr/>
          </p:nvSpPr>
          <p:spPr>
            <a:xfrm rot="0">
              <a:off x="0" y="675640"/>
              <a:ext cx="11099800" cy="1559560"/>
            </a:xfrm>
            <a:prstGeom prst="rect">
              <a:avLst/>
            </a:prstGeom>
          </p:spPr>
          <p:txBody>
            <a:bodyPr anchor="t" rtlCol="false" tIns="0" lIns="0" bIns="0" rIns="0">
              <a:spAutoFit/>
            </a:bodyPr>
            <a:lstStyle/>
            <a:p>
              <a:pPr algn="l">
                <a:lnSpc>
                  <a:spcPts val="3120"/>
                </a:lnSpc>
              </a:pPr>
              <a:r>
                <a:rPr lang="en-US" sz="2400" spc="-48">
                  <a:solidFill>
                    <a:srgbClr val="000000"/>
                  </a:solidFill>
                  <a:latin typeface="TT Interphases"/>
                  <a:ea typeface="TT Interphases"/>
                  <a:cs typeface="TT Interphases"/>
                  <a:sym typeface="TT Interphases"/>
                </a:rPr>
                <a:t>FB @BlackGirlTamales</a:t>
              </a:r>
            </a:p>
            <a:p>
              <a:pPr algn="l">
                <a:lnSpc>
                  <a:spcPts val="3120"/>
                </a:lnSpc>
              </a:pPr>
              <a:r>
                <a:rPr lang="en-US" sz="2400" spc="-48">
                  <a:solidFill>
                    <a:srgbClr val="000000"/>
                  </a:solidFill>
                  <a:latin typeface="TT Interphases"/>
                  <a:ea typeface="TT Interphases"/>
                  <a:cs typeface="TT Interphases"/>
                  <a:sym typeface="TT Interphases"/>
                </a:rPr>
                <a:t>IG @BlackGirlTamales</a:t>
              </a:r>
            </a:p>
            <a:p>
              <a:pPr algn="l" marL="0" indent="0" lvl="0">
                <a:lnSpc>
                  <a:spcPts val="3120"/>
                </a:lnSpc>
                <a:spcBef>
                  <a:spcPct val="0"/>
                </a:spcBef>
              </a:pPr>
              <a:r>
                <a:rPr lang="en-US" sz="2400" spc="-48">
                  <a:solidFill>
                    <a:srgbClr val="000000"/>
                  </a:solidFill>
                  <a:latin typeface="TT Interphases"/>
                  <a:ea typeface="TT Interphases"/>
                  <a:cs typeface="TT Interphases"/>
                  <a:sym typeface="TT Interphases"/>
                </a:rPr>
                <a:t>TikTok @BlackGirlTamales</a:t>
              </a:r>
            </a:p>
          </p:txBody>
        </p:sp>
      </p:grpSp>
      <p:grpSp>
        <p:nvGrpSpPr>
          <p:cNvPr name="Group 14" id="14"/>
          <p:cNvGrpSpPr/>
          <p:nvPr/>
        </p:nvGrpSpPr>
        <p:grpSpPr>
          <a:xfrm rot="0">
            <a:off x="666750" y="8724900"/>
            <a:ext cx="8324850" cy="895350"/>
            <a:chOff x="0" y="0"/>
            <a:chExt cx="11099800" cy="1193800"/>
          </a:xfrm>
        </p:grpSpPr>
        <p:sp>
          <p:nvSpPr>
            <p:cNvPr name="TextBox 15" id="15"/>
            <p:cNvSpPr txBox="true"/>
            <p:nvPr/>
          </p:nvSpPr>
          <p:spPr>
            <a:xfrm rot="0">
              <a:off x="0" y="-38100"/>
              <a:ext cx="11099800" cy="518160"/>
            </a:xfrm>
            <a:prstGeom prst="rect">
              <a:avLst/>
            </a:prstGeom>
          </p:spPr>
          <p:txBody>
            <a:bodyPr anchor="t" rtlCol="false" tIns="0" lIns="0" bIns="0" rIns="0">
              <a:spAutoFit/>
            </a:bodyPr>
            <a:lstStyle/>
            <a:p>
              <a:pPr algn="l" marL="0" indent="0" lvl="0">
                <a:lnSpc>
                  <a:spcPts val="3120"/>
                </a:lnSpc>
                <a:spcBef>
                  <a:spcPct val="0"/>
                </a:spcBef>
              </a:pPr>
              <a:r>
                <a:rPr lang="en-US" b="true" sz="2400" spc="-48" strike="noStrike" u="none">
                  <a:solidFill>
                    <a:srgbClr val="000000"/>
                  </a:solidFill>
                  <a:latin typeface="TT Interphases Bold"/>
                  <a:ea typeface="TT Interphases Bold"/>
                  <a:cs typeface="TT Interphases Bold"/>
                  <a:sym typeface="TT Interphases Bold"/>
                </a:rPr>
                <a:t>Phone</a:t>
              </a:r>
            </a:p>
          </p:txBody>
        </p:sp>
        <p:sp>
          <p:nvSpPr>
            <p:cNvPr name="TextBox 16" id="16"/>
            <p:cNvSpPr txBox="true"/>
            <p:nvPr/>
          </p:nvSpPr>
          <p:spPr>
            <a:xfrm rot="0">
              <a:off x="0" y="675640"/>
              <a:ext cx="11099800" cy="518160"/>
            </a:xfrm>
            <a:prstGeom prst="rect">
              <a:avLst/>
            </a:prstGeom>
          </p:spPr>
          <p:txBody>
            <a:bodyPr anchor="t" rtlCol="false" tIns="0" lIns="0" bIns="0" rIns="0">
              <a:spAutoFit/>
            </a:bodyPr>
            <a:lstStyle/>
            <a:p>
              <a:pPr algn="l" marL="0" indent="0" lvl="0">
                <a:lnSpc>
                  <a:spcPts val="3120"/>
                </a:lnSpc>
                <a:spcBef>
                  <a:spcPct val="0"/>
                </a:spcBef>
              </a:pPr>
              <a:r>
                <a:rPr lang="en-US" sz="2400" spc="-48">
                  <a:solidFill>
                    <a:srgbClr val="000000"/>
                  </a:solidFill>
                  <a:latin typeface="TT Interphases"/>
                  <a:ea typeface="TT Interphases"/>
                  <a:cs typeface="TT Interphases"/>
                  <a:sym typeface="TT Interphases"/>
                </a:rPr>
                <a:t>918-409-4091</a:t>
              </a:r>
            </a:p>
          </p:txBody>
        </p:sp>
      </p:grpSp>
      <p:sp>
        <p:nvSpPr>
          <p:cNvPr name="Freeform 17" id="17"/>
          <p:cNvSpPr/>
          <p:nvPr/>
        </p:nvSpPr>
        <p:spPr>
          <a:xfrm flipH="true" flipV="false" rot="5400000">
            <a:off x="16106389" y="8352937"/>
            <a:ext cx="1792448" cy="1639275"/>
          </a:xfrm>
          <a:custGeom>
            <a:avLst/>
            <a:gdLst/>
            <a:ahLst/>
            <a:cxnLst/>
            <a:rect r="r" b="b" t="t" l="l"/>
            <a:pathLst>
              <a:path h="1639275" w="1792448">
                <a:moveTo>
                  <a:pt x="1792448" y="0"/>
                </a:moveTo>
                <a:lnTo>
                  <a:pt x="0" y="0"/>
                </a:lnTo>
                <a:lnTo>
                  <a:pt x="0" y="1639276"/>
                </a:lnTo>
                <a:lnTo>
                  <a:pt x="1792448" y="1639276"/>
                </a:lnTo>
                <a:lnTo>
                  <a:pt x="17924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0708180" y="666750"/>
            <a:ext cx="6947741" cy="8953500"/>
            <a:chOff x="0" y="0"/>
            <a:chExt cx="812800" cy="1047449"/>
          </a:xfrm>
        </p:grpSpPr>
        <p:sp>
          <p:nvSpPr>
            <p:cNvPr name="Freeform 19" id="19"/>
            <p:cNvSpPr/>
            <p:nvPr/>
          </p:nvSpPr>
          <p:spPr>
            <a:xfrm flipH="false" flipV="false" rot="0">
              <a:off x="0" y="0"/>
              <a:ext cx="812800" cy="1047449"/>
            </a:xfrm>
            <a:custGeom>
              <a:avLst/>
              <a:gdLst/>
              <a:ahLst/>
              <a:cxnLst/>
              <a:rect r="r" b="b" t="t" l="l"/>
              <a:pathLst>
                <a:path h="1047449" w="812800">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4"/>
              <a:stretch>
                <a:fillRect l="0" t="-306" r="0" b="-306"/>
              </a:stretch>
            </a:blipFill>
          </p:spPr>
        </p:sp>
      </p:grpSp>
      <p:sp>
        <p:nvSpPr>
          <p:cNvPr name="TextBox 20" id="20"/>
          <p:cNvSpPr txBox="true"/>
          <p:nvPr/>
        </p:nvSpPr>
        <p:spPr>
          <a:xfrm rot="0">
            <a:off x="665758" y="2208719"/>
            <a:ext cx="8325842" cy="866299"/>
          </a:xfrm>
          <a:prstGeom prst="rect">
            <a:avLst/>
          </a:prstGeom>
        </p:spPr>
        <p:txBody>
          <a:bodyPr anchor="t" rtlCol="false" tIns="0" lIns="0" bIns="0" rIns="0">
            <a:spAutoFit/>
          </a:bodyPr>
          <a:lstStyle/>
          <a:p>
            <a:pPr algn="l">
              <a:lnSpc>
                <a:spcPts val="3258"/>
              </a:lnSpc>
              <a:spcBef>
                <a:spcPct val="0"/>
              </a:spcBef>
            </a:pPr>
            <a:r>
              <a:rPr lang="en-US" b="true" sz="2962" spc="-29">
                <a:solidFill>
                  <a:srgbClr val="000000"/>
                </a:solidFill>
                <a:latin typeface="Telegraf Bold"/>
                <a:ea typeface="Telegraf Bold"/>
                <a:cs typeface="Telegraf Bold"/>
                <a:sym typeface="Telegraf Bold"/>
              </a:rPr>
              <a:t>Revolutionize your cost management strategy</a:t>
            </a:r>
          </a:p>
          <a:p>
            <a:pPr algn="l">
              <a:lnSpc>
                <a:spcPts val="3258"/>
              </a:lnSpc>
              <a:spcBef>
                <a:spcPct val="0"/>
              </a:spcBef>
            </a:pPr>
            <a:r>
              <a:rPr lang="en-US" b="true" sz="2962" spc="-29">
                <a:solidFill>
                  <a:srgbClr val="000000"/>
                </a:solidFill>
                <a:latin typeface="Telegraf Bold"/>
                <a:ea typeface="Telegraf Bold"/>
                <a:cs typeface="Telegraf Bold"/>
                <a:sym typeface="Telegraf Bold"/>
              </a:rPr>
              <a:t>today with “Mise en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Mise en Cost</dc:description>
  <dc:identifier>DAG3nOc1QAM</dc:identifier>
  <dcterms:modified xsi:type="dcterms:W3CDTF">2011-08-01T06:04:30Z</dcterms:modified>
  <cp:revision>1</cp:revision>
  <dc:title>Presentation - Mise en Cost MVP Pitch Deck</dc:title>
</cp:coreProperties>
</file>